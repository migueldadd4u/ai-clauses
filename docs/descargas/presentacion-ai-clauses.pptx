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864"/>
        </a:solidFill>
      </p:bgPr>
    </p:bg>
    <p:spTree>
      <p:nvGrpSpPr>
        <p:cNvPr id="1" name=""/>
        <p:cNvGrpSpPr/>
        <p:nvPr/>
      </p:nvGrpSpPr>
      <p:grpSpPr>
        <a:xfrm>
          <a:off x="0" y="0"/>
          <a:ext cx="0" cy="0"/>
          <a:chOff x="0" y="0"/>
          <a:chExt cx="0" cy="0"/>
        </a:xfrm>
      </p:grpSpPr>
      <p:sp>
        <p:nvSpPr>
          <p:cNvPr id="2" name="Text 0"/>
          <p:cNvSpPr/>
          <p:nvPr/>
        </p:nvSpPr>
        <p:spPr>
          <a:xfrm>
            <a:off x="822960" y="1600200"/>
            <a:ext cx="10515600" cy="731520"/>
          </a:xfrm>
          <a:prstGeom prst="rect">
            <a:avLst/>
          </a:prstGeom>
          <a:noFill/>
          <a:ln/>
        </p:spPr>
        <p:txBody>
          <a:bodyPr wrap="square" rtlCol="0" anchor="ctr"/>
          <a:lstStyle/>
          <a:p>
            <a:pPr indent="0" marL="0">
              <a:buNone/>
            </a:pPr>
            <a:r>
              <a:rPr lang="en-US" sz="3000" dirty="0">
                <a:solidFill>
                  <a:srgbClr val="C9D3E6"/>
                </a:solidFill>
                <a:latin typeface="Georgia" pitchFamily="34" charset="0"/>
                <a:ea typeface="Georgia" pitchFamily="34" charset="-122"/>
                <a:cs typeface="Georgia" pitchFamily="34" charset="-120"/>
              </a:rPr>
              <a:t>AI Clauses</a:t>
            </a:r>
            <a:endParaRPr lang="en-US" sz="3000" dirty="0"/>
          </a:p>
        </p:txBody>
      </p:sp>
      <p:sp>
        <p:nvSpPr>
          <p:cNvPr id="3" name="Text 1"/>
          <p:cNvSpPr/>
          <p:nvPr/>
        </p:nvSpPr>
        <p:spPr>
          <a:xfrm>
            <a:off x="822960" y="2286000"/>
            <a:ext cx="10515600" cy="1737360"/>
          </a:xfrm>
          <a:prstGeom prst="rect">
            <a:avLst/>
          </a:prstGeom>
          <a:noFill/>
          <a:ln/>
        </p:spPr>
        <p:txBody>
          <a:bodyPr wrap="square" rtlCol="0" anchor="ctr"/>
          <a:lstStyle/>
          <a:p>
            <a:pPr indent="0" marL="0">
              <a:lnSpc>
                <a:spcPct val="115000"/>
              </a:lnSpc>
              <a:buNone/>
            </a:pPr>
            <a:r>
              <a:rPr lang="en-US" sz="4200" b="1" dirty="0">
                <a:solidFill>
                  <a:srgbClr val="FFFFFF"/>
                </a:solidFill>
                <a:latin typeface="Georgia" pitchFamily="34" charset="0"/>
                <a:ea typeface="Georgia" pitchFamily="34" charset="-122"/>
                <a:cs typeface="Georgia" pitchFamily="34" charset="-120"/>
              </a:rPr>
              <a:t>Un contrato público de tecnología dura años.</a:t>
            </a:r>
            <a:endParaRPr lang="en-US" sz="4200" dirty="0"/>
          </a:p>
          <a:p>
            <a:pPr indent="0" marL="0">
              <a:lnSpc>
                <a:spcPct val="115000"/>
              </a:lnSpc>
              <a:buNone/>
            </a:pPr>
            <a:r>
              <a:rPr lang="en-US" sz="4200" b="1" dirty="0">
                <a:solidFill>
                  <a:srgbClr val="FFFFFF"/>
                </a:solidFill>
                <a:latin typeface="Georgia" pitchFamily="34" charset="0"/>
                <a:ea typeface="Georgia" pitchFamily="34" charset="-122"/>
                <a:cs typeface="Georgia" pitchFamily="34" charset="-120"/>
              </a:rPr>
              <a:t>La tecnología que compra, no.</a:t>
            </a:r>
            <a:endParaRPr lang="en-US" sz="4200" dirty="0"/>
          </a:p>
        </p:txBody>
      </p:sp>
      <p:sp>
        <p:nvSpPr>
          <p:cNvPr id="4" name="Text 2"/>
          <p:cNvSpPr/>
          <p:nvPr/>
        </p:nvSpPr>
        <p:spPr>
          <a:xfrm>
            <a:off x="822960" y="4206240"/>
            <a:ext cx="10515600" cy="548640"/>
          </a:xfrm>
          <a:prstGeom prst="rect">
            <a:avLst/>
          </a:prstGeom>
          <a:noFill/>
          <a:ln/>
        </p:spPr>
        <p:txBody>
          <a:bodyPr wrap="square" rtlCol="0" anchor="ctr"/>
          <a:lstStyle/>
          <a:p>
            <a:pPr indent="0" marL="0">
              <a:buNone/>
            </a:pPr>
            <a:r>
              <a:rPr lang="en-US" sz="1900" dirty="0">
                <a:solidFill>
                  <a:srgbClr val="C9D3E6"/>
                </a:solidFill>
                <a:latin typeface="Calibri" pitchFamily="34" charset="0"/>
                <a:ea typeface="Calibri" pitchFamily="34" charset="-122"/>
                <a:cs typeface="Calibri" pitchFamily="34" charset="-120"/>
              </a:rPr>
              <a:t>Cláusulas de inteligencia artificial y deep tech para pliegos de contratación pública</a:t>
            </a:r>
            <a:endParaRPr lang="en-US" sz="1900" dirty="0"/>
          </a:p>
        </p:txBody>
      </p:sp>
      <p:sp>
        <p:nvSpPr>
          <p:cNvPr id="5" name="Shape 3"/>
          <p:cNvSpPr/>
          <p:nvPr/>
        </p:nvSpPr>
        <p:spPr>
          <a:xfrm>
            <a:off x="822960" y="5029200"/>
            <a:ext cx="2011680" cy="0"/>
          </a:xfrm>
          <a:prstGeom prst="line">
            <a:avLst/>
          </a:prstGeom>
          <a:noFill/>
          <a:ln w="19050">
            <a:solidFill>
              <a:srgbClr val="C9D3E6"/>
            </a:solidFill>
            <a:prstDash val="solid"/>
          </a:ln>
        </p:spPr>
      </p:sp>
      <p:sp>
        <p:nvSpPr>
          <p:cNvPr id="6" name="Text 4"/>
          <p:cNvSpPr/>
          <p:nvPr/>
        </p:nvSpPr>
        <p:spPr>
          <a:xfrm>
            <a:off x="822960" y="5257800"/>
            <a:ext cx="10515600" cy="365760"/>
          </a:xfrm>
          <a:prstGeom prst="rect">
            <a:avLst/>
          </a:prstGeom>
          <a:noFill/>
          <a:ln/>
        </p:spPr>
        <p:txBody>
          <a:bodyPr wrap="square" rtlCol="0" anchor="ctr"/>
          <a:lstStyle/>
          <a:p>
            <a:pPr indent="0" marL="0">
              <a:buNone/>
            </a:pPr>
            <a:r>
              <a:rPr lang="en-US" sz="1500" dirty="0">
                <a:solidFill>
                  <a:srgbClr val="FFFFFF"/>
                </a:solidFill>
                <a:latin typeface="Calibri" pitchFamily="34" charset="0"/>
                <a:ea typeface="Calibri" pitchFamily="34" charset="-122"/>
                <a:cs typeface="Calibri" pitchFamily="34" charset="-120"/>
              </a:rPr>
              <a:t>Delfina Lafuente Veira  ·  Dr. José Antonio Ondiviela García  ·  Miguel Ángel Domínguez Castellano</a:t>
            </a:r>
            <a:endParaRPr lang="en-US" sz="1500" dirty="0"/>
          </a:p>
        </p:txBody>
      </p:sp>
      <p:sp>
        <p:nvSpPr>
          <p:cNvPr id="7" name="Text 5"/>
          <p:cNvSpPr/>
          <p:nvPr/>
        </p:nvSpPr>
        <p:spPr>
          <a:xfrm>
            <a:off x="822960" y="5623560"/>
            <a:ext cx="10515600" cy="365760"/>
          </a:xfrm>
          <a:prstGeom prst="rect">
            <a:avLst/>
          </a:prstGeom>
          <a:noFill/>
          <a:ln/>
        </p:spPr>
        <p:txBody>
          <a:bodyPr wrap="square" rtlCol="0" anchor="ctr"/>
          <a:lstStyle/>
          <a:p>
            <a:pPr indent="0" marL="0">
              <a:buNone/>
            </a:pPr>
            <a:r>
              <a:rPr lang="en-US" sz="1300" dirty="0">
                <a:solidFill>
                  <a:srgbClr val="C9D3E6"/>
                </a:solidFill>
                <a:latin typeface="Calibri" pitchFamily="34" charset="0"/>
                <a:ea typeface="Calibri" pitchFamily="34" charset="-122"/>
                <a:cs typeface="Calibri" pitchFamily="34" charset="-120"/>
              </a:rPr>
              <a:t>Versión 4.0, definitiva —no aprobada por ningún órgano— · octubre de 2026 · publicada en abierto bajo licencia CC BY 4.0</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02920"/>
            <a:ext cx="10515600" cy="822960"/>
          </a:xfrm>
          <a:prstGeom prst="rect">
            <a:avLst/>
          </a:prstGeom>
          <a:noFill/>
          <a:ln/>
        </p:spPr>
        <p:txBody>
          <a:bodyPr wrap="square" rtlCol="0" anchor="ctr"/>
          <a:lstStyle/>
          <a:p>
            <a:pPr indent="0" marL="0">
              <a:buNone/>
            </a:pPr>
            <a:r>
              <a:rPr lang="en-US" sz="3600" b="1" dirty="0">
                <a:solidFill>
                  <a:srgbClr val="1F3864"/>
                </a:solidFill>
                <a:latin typeface="Georgia" pitchFamily="34" charset="0"/>
                <a:ea typeface="Georgia" pitchFamily="34" charset="-122"/>
                <a:cs typeface="Georgia" pitchFamily="34" charset="-120"/>
              </a:rPr>
              <a:t>La idea, en una frase</a:t>
            </a:r>
            <a:endParaRPr lang="en-US" sz="3600" dirty="0"/>
          </a:p>
        </p:txBody>
      </p:sp>
      <p:sp>
        <p:nvSpPr>
          <p:cNvPr id="3" name="Text 1"/>
          <p:cNvSpPr/>
          <p:nvPr/>
        </p:nvSpPr>
        <p:spPr>
          <a:xfrm>
            <a:off x="1188720" y="1920240"/>
            <a:ext cx="9784080" cy="2011680"/>
          </a:xfrm>
          <a:prstGeom prst="rect">
            <a:avLst/>
          </a:prstGeom>
          <a:noFill/>
          <a:ln/>
        </p:spPr>
        <p:txBody>
          <a:bodyPr wrap="square" rtlCol="0" anchor="ctr"/>
          <a:lstStyle/>
          <a:p>
            <a:pPr algn="ctr" indent="0" marL="0">
              <a:lnSpc>
                <a:spcPct val="125000"/>
              </a:lnSpc>
              <a:buNone/>
            </a:pPr>
            <a:r>
              <a:rPr lang="en-US" sz="2800" i="1" dirty="0">
                <a:solidFill>
                  <a:srgbClr val="22201D"/>
                </a:solidFill>
                <a:latin typeface="Georgia" pitchFamily="34" charset="0"/>
                <a:ea typeface="Georgia" pitchFamily="34" charset="-122"/>
                <a:cs typeface="Georgia" pitchFamily="34" charset="-120"/>
              </a:rPr>
              <a:t>Que el contrato obligue al proveedor a entregar</a:t>
            </a:r>
            <a:endParaRPr lang="en-US" sz="2800" dirty="0"/>
          </a:p>
          <a:p>
            <a:pPr algn="ctr" indent="0" marL="0">
              <a:lnSpc>
                <a:spcPct val="125000"/>
              </a:lnSpc>
              <a:buNone/>
            </a:pPr>
            <a:r>
              <a:rPr lang="en-US" sz="2800" i="1" dirty="0">
                <a:solidFill>
                  <a:srgbClr val="22201D"/>
                </a:solidFill>
                <a:latin typeface="Georgia" pitchFamily="34" charset="0"/>
                <a:ea typeface="Georgia" pitchFamily="34" charset="-122"/>
                <a:cs typeface="Georgia" pitchFamily="34" charset="-120"/>
              </a:rPr>
              <a:t>capacidades concretas y comprobables durante toda su vida,</a:t>
            </a:r>
            <a:endParaRPr lang="en-US" sz="2800" dirty="0"/>
          </a:p>
          <a:p>
            <a:pPr algn="ctr" indent="0" marL="0">
              <a:lnSpc>
                <a:spcPct val="125000"/>
              </a:lnSpc>
              <a:buNone/>
            </a:pPr>
            <a:r>
              <a:rPr lang="en-US" sz="2800" i="1" dirty="0">
                <a:solidFill>
                  <a:srgbClr val="22201D"/>
                </a:solidFill>
                <a:latin typeface="Georgia" pitchFamily="34" charset="0"/>
                <a:ea typeface="Georgia" pitchFamily="34" charset="-122"/>
                <a:cs typeface="Georgia" pitchFamily="34" charset="-120"/>
              </a:rPr>
              <a:t>en lugar de una promesa de «mantenerse actualizado».</a:t>
            </a:r>
            <a:endParaRPr lang="en-US" sz="2800" dirty="0"/>
          </a:p>
        </p:txBody>
      </p:sp>
      <p:sp>
        <p:nvSpPr>
          <p:cNvPr id="4" name="Shape 2"/>
          <p:cNvSpPr/>
          <p:nvPr/>
        </p:nvSpPr>
        <p:spPr>
          <a:xfrm>
            <a:off x="1188720" y="4206240"/>
            <a:ext cx="9784080" cy="1371600"/>
          </a:xfrm>
          <a:prstGeom prst="roundRect">
            <a:avLst>
              <a:gd name="adj" fmla="val 6667"/>
            </a:avLst>
          </a:prstGeom>
          <a:solidFill>
            <a:srgbClr val="EDF1F8"/>
          </a:solidFill>
          <a:ln/>
        </p:spPr>
      </p:sp>
      <p:sp>
        <p:nvSpPr>
          <p:cNvPr id="5" name="Text 3"/>
          <p:cNvSpPr/>
          <p:nvPr/>
        </p:nvSpPr>
        <p:spPr>
          <a:xfrm>
            <a:off x="1554480" y="4526280"/>
            <a:ext cx="9052560" cy="731520"/>
          </a:xfrm>
          <a:prstGeom prst="rect">
            <a:avLst/>
          </a:prstGeom>
          <a:noFill/>
          <a:ln/>
        </p:spPr>
        <p:txBody>
          <a:bodyPr wrap="square" rtlCol="0" anchor="ctr"/>
          <a:lstStyle/>
          <a:p>
            <a:pPr algn="ctr" indent="0" marL="0">
              <a:buNone/>
            </a:pPr>
            <a:r>
              <a:rPr lang="en-US" sz="2000" dirty="0">
                <a:solidFill>
                  <a:srgbClr val="1F3864"/>
                </a:solidFill>
                <a:latin typeface="Calibri" pitchFamily="34" charset="0"/>
                <a:ea typeface="Calibri" pitchFamily="34" charset="-122"/>
                <a:cs typeface="Calibri" pitchFamily="34" charset="-120"/>
              </a:rPr>
              <a:t>Y que se pueda comprobar con un acta, no con una discusión.</a:t>
            </a:r>
            <a:endParaRPr lang="en-US" sz="2000" dirty="0"/>
          </a:p>
        </p:txBody>
      </p:sp>
      <p:sp>
        <p:nvSpPr>
          <p:cNvPr id="6" name="Text 4"/>
          <p:cNvSpPr/>
          <p:nvPr/>
        </p:nvSpPr>
        <p:spPr>
          <a:xfrm>
            <a:off x="822960" y="5989320"/>
            <a:ext cx="10515600" cy="548640"/>
          </a:xfrm>
          <a:prstGeom prst="rect">
            <a:avLst/>
          </a:prstGeom>
          <a:noFill/>
          <a:ln/>
        </p:spPr>
        <p:txBody>
          <a:bodyPr wrap="square" rtlCol="0" anchor="ctr"/>
          <a:lstStyle/>
          <a:p>
            <a:pPr indent="0" marL="0">
              <a:buNone/>
            </a:pPr>
            <a:r>
              <a:rPr lang="en-US" sz="1400" i="1" dirty="0">
                <a:solidFill>
                  <a:srgbClr val="6E6A63"/>
                </a:solidFill>
                <a:latin typeface="Calibri" pitchFamily="34" charset="0"/>
                <a:ea typeface="Calibri" pitchFamily="34" charset="-122"/>
                <a:cs typeface="Calibri" pitchFamily="34" charset="-120"/>
              </a:rPr>
              <a:t>Todo lo demás de esta presentación es la explicación de esa frase.</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02920"/>
            <a:ext cx="10515600" cy="822960"/>
          </a:xfrm>
          <a:prstGeom prst="rect">
            <a:avLst/>
          </a:prstGeom>
          <a:noFill/>
          <a:ln/>
        </p:spPr>
        <p:txBody>
          <a:bodyPr wrap="square" rtlCol="0" anchor="ctr"/>
          <a:lstStyle/>
          <a:p>
            <a:pPr indent="0" marL="0">
              <a:buNone/>
            </a:pPr>
            <a:r>
              <a:rPr lang="en-US" sz="3600" b="1" dirty="0">
                <a:solidFill>
                  <a:srgbClr val="1F3864"/>
                </a:solidFill>
                <a:latin typeface="Georgia" pitchFamily="34" charset="0"/>
                <a:ea typeface="Georgia" pitchFamily="34" charset="-122"/>
                <a:cs typeface="Georgia" pitchFamily="34" charset="-120"/>
              </a:rPr>
              <a:t>El problema</a:t>
            </a:r>
            <a:endParaRPr lang="en-US" sz="3600" dirty="0"/>
          </a:p>
        </p:txBody>
      </p:sp>
      <p:sp>
        <p:nvSpPr>
          <p:cNvPr id="3" name="Text 1"/>
          <p:cNvSpPr/>
          <p:nvPr/>
        </p:nvSpPr>
        <p:spPr>
          <a:xfrm>
            <a:off x="822960" y="1463040"/>
            <a:ext cx="10515600" cy="640080"/>
          </a:xfrm>
          <a:prstGeom prst="rect">
            <a:avLst/>
          </a:prstGeom>
          <a:noFill/>
          <a:ln/>
        </p:spPr>
        <p:txBody>
          <a:bodyPr wrap="square" rtlCol="0" anchor="ctr"/>
          <a:lstStyle/>
          <a:p>
            <a:pPr indent="0" marL="0">
              <a:buNone/>
            </a:pPr>
            <a:r>
              <a:rPr lang="en-US" sz="2000" dirty="0">
                <a:solidFill>
                  <a:srgbClr val="22201D"/>
                </a:solidFill>
                <a:latin typeface="Calibri" pitchFamily="34" charset="0"/>
                <a:ea typeface="Calibri" pitchFamily="34" charset="-122"/>
                <a:cs typeface="Calibri" pitchFamily="34" charset="-120"/>
              </a:rPr>
              <a:t>Un ayuntamiento contrata un sistema de gestión: tributos, padrón, contabilidad, atención al ciudadano. Da igual cuál.</a:t>
            </a:r>
            <a:endParaRPr lang="en-US" sz="2000" dirty="0"/>
          </a:p>
        </p:txBody>
      </p:sp>
      <p:sp>
        <p:nvSpPr>
          <p:cNvPr id="4" name="Shape 2"/>
          <p:cNvSpPr/>
          <p:nvPr/>
        </p:nvSpPr>
        <p:spPr>
          <a:xfrm>
            <a:off x="822960" y="2377440"/>
            <a:ext cx="3337560" cy="2240280"/>
          </a:xfrm>
          <a:prstGeom prst="roundRect">
            <a:avLst>
              <a:gd name="adj" fmla="val 4082"/>
            </a:avLst>
          </a:prstGeom>
          <a:solidFill>
            <a:srgbClr val="EDF1F8"/>
          </a:solidFill>
          <a:ln/>
        </p:spPr>
      </p:sp>
      <p:sp>
        <p:nvSpPr>
          <p:cNvPr id="5" name="Text 3"/>
          <p:cNvSpPr/>
          <p:nvPr/>
        </p:nvSpPr>
        <p:spPr>
          <a:xfrm>
            <a:off x="1097280" y="2606040"/>
            <a:ext cx="2788920" cy="411480"/>
          </a:xfrm>
          <a:prstGeom prst="rect">
            <a:avLst/>
          </a:prstGeom>
          <a:noFill/>
          <a:ln/>
        </p:spPr>
        <p:txBody>
          <a:bodyPr wrap="square" rtlCol="0" anchor="ctr"/>
          <a:lstStyle/>
          <a:p>
            <a:pPr indent="0" marL="0">
              <a:buNone/>
            </a:pPr>
            <a:r>
              <a:rPr lang="en-US" sz="1300" b="1" spc="200" kern="0" dirty="0">
                <a:solidFill>
                  <a:srgbClr val="1F3864"/>
                </a:solidFill>
                <a:latin typeface="Calibri" pitchFamily="34" charset="0"/>
                <a:ea typeface="Calibri" pitchFamily="34" charset="-122"/>
                <a:cs typeface="Calibri" pitchFamily="34" charset="-120"/>
              </a:rPr>
              <a:t>Año 0</a:t>
            </a:r>
            <a:endParaRPr lang="en-US" sz="1300" dirty="0"/>
          </a:p>
        </p:txBody>
      </p:sp>
      <p:sp>
        <p:nvSpPr>
          <p:cNvPr id="6" name="Text 4"/>
          <p:cNvSpPr/>
          <p:nvPr/>
        </p:nvSpPr>
        <p:spPr>
          <a:xfrm>
            <a:off x="1097280" y="3017520"/>
            <a:ext cx="2788920" cy="548640"/>
          </a:xfrm>
          <a:prstGeom prst="rect">
            <a:avLst/>
          </a:prstGeom>
          <a:noFill/>
          <a:ln/>
        </p:spPr>
        <p:txBody>
          <a:bodyPr wrap="square" rtlCol="0" anchor="ctr"/>
          <a:lstStyle/>
          <a:p>
            <a:pPr indent="0" marL="0">
              <a:buNone/>
            </a:pPr>
            <a:r>
              <a:rPr lang="en-US" sz="2100" b="1" dirty="0">
                <a:solidFill>
                  <a:srgbClr val="22201D"/>
                </a:solidFill>
                <a:latin typeface="Georgia" pitchFamily="34" charset="0"/>
                <a:ea typeface="Georgia" pitchFamily="34" charset="-122"/>
                <a:cs typeface="Georgia" pitchFamily="34" charset="-120"/>
              </a:rPr>
              <a:t>Se firma</a:t>
            </a:r>
            <a:endParaRPr lang="en-US" sz="2100" dirty="0"/>
          </a:p>
        </p:txBody>
      </p:sp>
      <p:sp>
        <p:nvSpPr>
          <p:cNvPr id="7" name="Text 5"/>
          <p:cNvSpPr/>
          <p:nvPr/>
        </p:nvSpPr>
        <p:spPr>
          <a:xfrm>
            <a:off x="1097280" y="3566160"/>
            <a:ext cx="2788920" cy="960120"/>
          </a:xfrm>
          <a:prstGeom prst="rect">
            <a:avLst/>
          </a:prstGeom>
          <a:noFill/>
          <a:ln/>
        </p:spPr>
        <p:txBody>
          <a:bodyPr wrap="square" rtlCol="0" anchor="ctr"/>
          <a:lstStyle/>
          <a:p>
            <a:pPr indent="0" marL="0">
              <a:buNone/>
            </a:pPr>
            <a:r>
              <a:rPr lang="en-US" sz="1500" dirty="0">
                <a:solidFill>
                  <a:srgbClr val="22201D"/>
                </a:solidFill>
                <a:latin typeface="Calibri" pitchFamily="34" charset="0"/>
                <a:ea typeface="Calibri" pitchFamily="34" charset="-122"/>
                <a:cs typeface="Calibri" pitchFamily="34" charset="-120"/>
              </a:rPr>
              <a:t>La herramienta está al día. El pliego es correcto.</a:t>
            </a:r>
            <a:endParaRPr lang="en-US" sz="1500" dirty="0"/>
          </a:p>
        </p:txBody>
      </p:sp>
      <p:sp>
        <p:nvSpPr>
          <p:cNvPr id="8" name="Shape 6"/>
          <p:cNvSpPr/>
          <p:nvPr/>
        </p:nvSpPr>
        <p:spPr>
          <a:xfrm>
            <a:off x="4434840" y="2377440"/>
            <a:ext cx="3337560" cy="2240280"/>
          </a:xfrm>
          <a:prstGeom prst="roundRect">
            <a:avLst>
              <a:gd name="adj" fmla="val 4082"/>
            </a:avLst>
          </a:prstGeom>
          <a:solidFill>
            <a:srgbClr val="FDF6E6"/>
          </a:solidFill>
          <a:ln/>
        </p:spPr>
      </p:sp>
      <p:sp>
        <p:nvSpPr>
          <p:cNvPr id="9" name="Text 7"/>
          <p:cNvSpPr/>
          <p:nvPr/>
        </p:nvSpPr>
        <p:spPr>
          <a:xfrm>
            <a:off x="4709160" y="2606040"/>
            <a:ext cx="2788920" cy="411480"/>
          </a:xfrm>
          <a:prstGeom prst="rect">
            <a:avLst/>
          </a:prstGeom>
          <a:noFill/>
          <a:ln/>
        </p:spPr>
        <p:txBody>
          <a:bodyPr wrap="square" rtlCol="0" anchor="ctr"/>
          <a:lstStyle/>
          <a:p>
            <a:pPr indent="0" marL="0">
              <a:buNone/>
            </a:pPr>
            <a:r>
              <a:rPr lang="en-US" sz="1300" b="1" spc="200" kern="0" dirty="0">
                <a:solidFill>
                  <a:srgbClr val="8A5A00"/>
                </a:solidFill>
                <a:latin typeface="Calibri" pitchFamily="34" charset="0"/>
                <a:ea typeface="Calibri" pitchFamily="34" charset="-122"/>
                <a:cs typeface="Calibri" pitchFamily="34" charset="-120"/>
              </a:rPr>
              <a:t>Año 2</a:t>
            </a:r>
            <a:endParaRPr lang="en-US" sz="1300" dirty="0"/>
          </a:p>
        </p:txBody>
      </p:sp>
      <p:sp>
        <p:nvSpPr>
          <p:cNvPr id="10" name="Text 8"/>
          <p:cNvSpPr/>
          <p:nvPr/>
        </p:nvSpPr>
        <p:spPr>
          <a:xfrm>
            <a:off x="4709160" y="3017520"/>
            <a:ext cx="2788920" cy="548640"/>
          </a:xfrm>
          <a:prstGeom prst="rect">
            <a:avLst/>
          </a:prstGeom>
          <a:noFill/>
          <a:ln/>
        </p:spPr>
        <p:txBody>
          <a:bodyPr wrap="square" rtlCol="0" anchor="ctr"/>
          <a:lstStyle/>
          <a:p>
            <a:pPr indent="0" marL="0">
              <a:buNone/>
            </a:pPr>
            <a:r>
              <a:rPr lang="en-US" sz="2100" b="1" dirty="0">
                <a:solidFill>
                  <a:srgbClr val="22201D"/>
                </a:solidFill>
                <a:latin typeface="Georgia" pitchFamily="34" charset="0"/>
                <a:ea typeface="Georgia" pitchFamily="34" charset="-122"/>
                <a:cs typeface="Georgia" pitchFamily="34" charset="-120"/>
              </a:rPr>
              <a:t>Aparece algo mejor</a:t>
            </a:r>
            <a:endParaRPr lang="en-US" sz="2100" dirty="0"/>
          </a:p>
        </p:txBody>
      </p:sp>
      <p:sp>
        <p:nvSpPr>
          <p:cNvPr id="11" name="Text 9"/>
          <p:cNvSpPr/>
          <p:nvPr/>
        </p:nvSpPr>
        <p:spPr>
          <a:xfrm>
            <a:off x="4709160" y="3566160"/>
            <a:ext cx="2788920" cy="960120"/>
          </a:xfrm>
          <a:prstGeom prst="rect">
            <a:avLst/>
          </a:prstGeom>
          <a:noFill/>
          <a:ln/>
        </p:spPr>
        <p:txBody>
          <a:bodyPr wrap="square" rtlCol="0" anchor="ctr"/>
          <a:lstStyle/>
          <a:p>
            <a:pPr indent="0" marL="0">
              <a:buNone/>
            </a:pPr>
            <a:r>
              <a:rPr lang="en-US" sz="1500" dirty="0">
                <a:solidFill>
                  <a:srgbClr val="22201D"/>
                </a:solidFill>
                <a:latin typeface="Calibri" pitchFamily="34" charset="0"/>
                <a:ea typeface="Calibri" pitchFamily="34" charset="-122"/>
                <a:cs typeface="Calibri" pitchFamily="34" charset="-120"/>
              </a:rPr>
              <a:t>Capacidades que al redactar el pliego no existían y nadie podía nombrar.</a:t>
            </a:r>
            <a:endParaRPr lang="en-US" sz="1500" dirty="0"/>
          </a:p>
        </p:txBody>
      </p:sp>
      <p:sp>
        <p:nvSpPr>
          <p:cNvPr id="12" name="Shape 10"/>
          <p:cNvSpPr/>
          <p:nvPr/>
        </p:nvSpPr>
        <p:spPr>
          <a:xfrm>
            <a:off x="8046720" y="2377440"/>
            <a:ext cx="3337560" cy="2240280"/>
          </a:xfrm>
          <a:prstGeom prst="roundRect">
            <a:avLst>
              <a:gd name="adj" fmla="val 4082"/>
            </a:avLst>
          </a:prstGeom>
          <a:solidFill>
            <a:srgbClr val="FBEEEC"/>
          </a:solidFill>
          <a:ln/>
        </p:spPr>
      </p:sp>
      <p:sp>
        <p:nvSpPr>
          <p:cNvPr id="13" name="Text 11"/>
          <p:cNvSpPr/>
          <p:nvPr/>
        </p:nvSpPr>
        <p:spPr>
          <a:xfrm>
            <a:off x="8321040" y="2606040"/>
            <a:ext cx="2788920" cy="411480"/>
          </a:xfrm>
          <a:prstGeom prst="rect">
            <a:avLst/>
          </a:prstGeom>
          <a:noFill/>
          <a:ln/>
        </p:spPr>
        <p:txBody>
          <a:bodyPr wrap="square" rtlCol="0" anchor="ctr"/>
          <a:lstStyle/>
          <a:p>
            <a:pPr indent="0" marL="0">
              <a:buNone/>
            </a:pPr>
            <a:r>
              <a:rPr lang="en-US" sz="1300" b="1" spc="200" kern="0" dirty="0">
                <a:solidFill>
                  <a:srgbClr val="9A3324"/>
                </a:solidFill>
                <a:latin typeface="Calibri" pitchFamily="34" charset="0"/>
                <a:ea typeface="Calibri" pitchFamily="34" charset="-122"/>
                <a:cs typeface="Calibri" pitchFamily="34" charset="-120"/>
              </a:rPr>
              <a:t>Año 5</a:t>
            </a:r>
            <a:endParaRPr lang="en-US" sz="1300" dirty="0"/>
          </a:p>
        </p:txBody>
      </p:sp>
      <p:sp>
        <p:nvSpPr>
          <p:cNvPr id="14" name="Text 12"/>
          <p:cNvSpPr/>
          <p:nvPr/>
        </p:nvSpPr>
        <p:spPr>
          <a:xfrm>
            <a:off x="8321040" y="3017520"/>
            <a:ext cx="2788920" cy="548640"/>
          </a:xfrm>
          <a:prstGeom prst="rect">
            <a:avLst/>
          </a:prstGeom>
          <a:noFill/>
          <a:ln/>
        </p:spPr>
        <p:txBody>
          <a:bodyPr wrap="square" rtlCol="0" anchor="ctr"/>
          <a:lstStyle/>
          <a:p>
            <a:pPr indent="0" marL="0">
              <a:buNone/>
            </a:pPr>
            <a:r>
              <a:rPr lang="en-US" sz="2100" b="1" dirty="0">
                <a:solidFill>
                  <a:srgbClr val="22201D"/>
                </a:solidFill>
                <a:latin typeface="Georgia" pitchFamily="34" charset="0"/>
                <a:ea typeface="Georgia" pitchFamily="34" charset="-122"/>
                <a:cs typeface="Georgia" pitchFamily="34" charset="-120"/>
              </a:rPr>
              <a:t>Se acaba el contrato</a:t>
            </a:r>
            <a:endParaRPr lang="en-US" sz="2100" dirty="0"/>
          </a:p>
        </p:txBody>
      </p:sp>
      <p:sp>
        <p:nvSpPr>
          <p:cNvPr id="15" name="Text 13"/>
          <p:cNvSpPr/>
          <p:nvPr/>
        </p:nvSpPr>
        <p:spPr>
          <a:xfrm>
            <a:off x="8321040" y="3566160"/>
            <a:ext cx="2788920" cy="960120"/>
          </a:xfrm>
          <a:prstGeom prst="rect">
            <a:avLst/>
          </a:prstGeom>
          <a:noFill/>
          <a:ln/>
        </p:spPr>
        <p:txBody>
          <a:bodyPr wrap="square" rtlCol="0" anchor="ctr"/>
          <a:lstStyle/>
          <a:p>
            <a:pPr indent="0" marL="0">
              <a:buNone/>
            </a:pPr>
            <a:r>
              <a:rPr lang="en-US" sz="1500" dirty="0">
                <a:solidFill>
                  <a:srgbClr val="22201D"/>
                </a:solidFill>
                <a:latin typeface="Calibri" pitchFamily="34" charset="0"/>
                <a:ea typeface="Calibri" pitchFamily="34" charset="-122"/>
                <a:cs typeface="Calibri" pitchFamily="34" charset="-120"/>
              </a:rPr>
              <a:t>Cinco años de servicio público prestado con herramientas de otra época.</a:t>
            </a:r>
            <a:endParaRPr lang="en-US" sz="1500" dirty="0"/>
          </a:p>
        </p:txBody>
      </p:sp>
      <p:sp>
        <p:nvSpPr>
          <p:cNvPr id="16" name="Text 14"/>
          <p:cNvSpPr/>
          <p:nvPr/>
        </p:nvSpPr>
        <p:spPr>
          <a:xfrm>
            <a:off x="822960" y="5989320"/>
            <a:ext cx="10515600" cy="548640"/>
          </a:xfrm>
          <a:prstGeom prst="rect">
            <a:avLst/>
          </a:prstGeom>
          <a:noFill/>
          <a:ln/>
        </p:spPr>
        <p:txBody>
          <a:bodyPr wrap="square" rtlCol="0" anchor="ctr"/>
          <a:lstStyle/>
          <a:p>
            <a:pPr indent="0" marL="0">
              <a:buNone/>
            </a:pPr>
            <a:r>
              <a:rPr lang="en-US" sz="1400" i="1" dirty="0">
                <a:solidFill>
                  <a:srgbClr val="6E6A63"/>
                </a:solidFill>
                <a:latin typeface="Calibri" pitchFamily="34" charset="0"/>
                <a:ea typeface="Calibri" pitchFamily="34" charset="-122"/>
                <a:cs typeface="Calibri" pitchFamily="34" charset="-120"/>
              </a:rPr>
              <a:t>Nadie ha hecho nada mal por el camino. Es un defecto de diseño del contrato.</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02920"/>
            <a:ext cx="10515600" cy="822960"/>
          </a:xfrm>
          <a:prstGeom prst="rect">
            <a:avLst/>
          </a:prstGeom>
          <a:noFill/>
          <a:ln/>
        </p:spPr>
        <p:txBody>
          <a:bodyPr wrap="square" rtlCol="0" anchor="ctr"/>
          <a:lstStyle/>
          <a:p>
            <a:pPr indent="0" marL="0">
              <a:buNone/>
            </a:pPr>
            <a:r>
              <a:rPr lang="en-US" sz="3600" b="1" dirty="0">
                <a:solidFill>
                  <a:srgbClr val="1F3864"/>
                </a:solidFill>
                <a:latin typeface="Georgia" pitchFamily="34" charset="0"/>
                <a:ea typeface="Georgia" pitchFamily="34" charset="-122"/>
                <a:cs typeface="Georgia" pitchFamily="34" charset="-120"/>
              </a:rPr>
              <a:t>A los dos años sólo hay tres salidas, y las tres cuestan dinero público</a:t>
            </a:r>
            <a:endParaRPr lang="en-US" sz="3600" dirty="0"/>
          </a:p>
        </p:txBody>
      </p:sp>
      <p:sp>
        <p:nvSpPr>
          <p:cNvPr id="3" name="Shape 1"/>
          <p:cNvSpPr/>
          <p:nvPr/>
        </p:nvSpPr>
        <p:spPr>
          <a:xfrm>
            <a:off x="822960" y="1828800"/>
            <a:ext cx="3337560" cy="2697480"/>
          </a:xfrm>
          <a:prstGeom prst="roundRect">
            <a:avLst>
              <a:gd name="adj" fmla="val 3390"/>
            </a:avLst>
          </a:prstGeom>
          <a:solidFill>
            <a:srgbClr val="EDF1F8"/>
          </a:solidFill>
          <a:ln/>
        </p:spPr>
      </p:sp>
      <p:sp>
        <p:nvSpPr>
          <p:cNvPr id="4" name="Text 2"/>
          <p:cNvSpPr/>
          <p:nvPr/>
        </p:nvSpPr>
        <p:spPr>
          <a:xfrm>
            <a:off x="1097280" y="2057400"/>
            <a:ext cx="548640" cy="548640"/>
          </a:xfrm>
          <a:prstGeom prst="rect">
            <a:avLst/>
          </a:prstGeom>
          <a:noFill/>
          <a:ln/>
        </p:spPr>
        <p:txBody>
          <a:bodyPr wrap="square" rtlCol="0" anchor="ctr"/>
          <a:lstStyle/>
          <a:p>
            <a:pPr indent="0" marL="0">
              <a:buNone/>
            </a:pPr>
            <a:r>
              <a:rPr lang="en-US" sz="3000" b="1" dirty="0">
                <a:solidFill>
                  <a:srgbClr val="C9D3E6"/>
                </a:solidFill>
                <a:latin typeface="Georgia" pitchFamily="34" charset="0"/>
                <a:ea typeface="Georgia" pitchFamily="34" charset="-122"/>
                <a:cs typeface="Georgia" pitchFamily="34" charset="-120"/>
              </a:rPr>
              <a:t>1</a:t>
            </a:r>
            <a:endParaRPr lang="en-US" sz="3000" dirty="0"/>
          </a:p>
        </p:txBody>
      </p:sp>
      <p:sp>
        <p:nvSpPr>
          <p:cNvPr id="5" name="Text 3"/>
          <p:cNvSpPr/>
          <p:nvPr/>
        </p:nvSpPr>
        <p:spPr>
          <a:xfrm>
            <a:off x="1097280" y="2651760"/>
            <a:ext cx="2788920" cy="640080"/>
          </a:xfrm>
          <a:prstGeom prst="rect">
            <a:avLst/>
          </a:prstGeom>
          <a:noFill/>
          <a:ln/>
        </p:spPr>
        <p:txBody>
          <a:bodyPr wrap="square" rtlCol="0" anchor="ctr"/>
          <a:lstStyle/>
          <a:p>
            <a:pPr indent="0" marL="0">
              <a:buNone/>
            </a:pPr>
            <a:r>
              <a:rPr lang="en-US" sz="2000" b="1" dirty="0">
                <a:solidFill>
                  <a:srgbClr val="1F3864"/>
                </a:solidFill>
                <a:latin typeface="Georgia" pitchFamily="34" charset="0"/>
                <a:ea typeface="Georgia" pitchFamily="34" charset="-122"/>
                <a:cs typeface="Georgia" pitchFamily="34" charset="-120"/>
              </a:rPr>
              <a:t>Se paga dos veces</a:t>
            </a:r>
            <a:endParaRPr lang="en-US" sz="2000" dirty="0"/>
          </a:p>
        </p:txBody>
      </p:sp>
      <p:sp>
        <p:nvSpPr>
          <p:cNvPr id="6" name="Text 4"/>
          <p:cNvSpPr/>
          <p:nvPr/>
        </p:nvSpPr>
        <p:spPr>
          <a:xfrm>
            <a:off x="1097280" y="3291840"/>
            <a:ext cx="2788920" cy="1143000"/>
          </a:xfrm>
          <a:prstGeom prst="rect">
            <a:avLst/>
          </a:prstGeom>
          <a:noFill/>
          <a:ln/>
        </p:spPr>
        <p:txBody>
          <a:bodyPr wrap="square" rtlCol="0" anchor="ctr"/>
          <a:lstStyle/>
          <a:p>
            <a:pPr indent="0" marL="0">
              <a:buNone/>
            </a:pPr>
            <a:r>
              <a:rPr lang="en-US" sz="1500" dirty="0">
                <a:solidFill>
                  <a:srgbClr val="22201D"/>
                </a:solidFill>
                <a:latin typeface="Calibri" pitchFamily="34" charset="0"/>
                <a:ea typeface="Calibri" pitchFamily="34" charset="-122"/>
                <a:cs typeface="Calibri" pitchFamily="34" charset="-120"/>
              </a:rPr>
              <a:t>Se saca un contrato nuevo para «modernizar» lo que ya se compró. La misma función, otra vez facturada.</a:t>
            </a:r>
            <a:endParaRPr lang="en-US" sz="1500" dirty="0"/>
          </a:p>
        </p:txBody>
      </p:sp>
      <p:sp>
        <p:nvSpPr>
          <p:cNvPr id="7" name="Shape 5"/>
          <p:cNvSpPr/>
          <p:nvPr/>
        </p:nvSpPr>
        <p:spPr>
          <a:xfrm>
            <a:off x="4434840" y="1828800"/>
            <a:ext cx="3337560" cy="2697480"/>
          </a:xfrm>
          <a:prstGeom prst="roundRect">
            <a:avLst>
              <a:gd name="adj" fmla="val 3390"/>
            </a:avLst>
          </a:prstGeom>
          <a:solidFill>
            <a:srgbClr val="EDF1F8"/>
          </a:solidFill>
          <a:ln/>
        </p:spPr>
      </p:sp>
      <p:sp>
        <p:nvSpPr>
          <p:cNvPr id="8" name="Text 6"/>
          <p:cNvSpPr/>
          <p:nvPr/>
        </p:nvSpPr>
        <p:spPr>
          <a:xfrm>
            <a:off x="4709160" y="2057400"/>
            <a:ext cx="548640" cy="548640"/>
          </a:xfrm>
          <a:prstGeom prst="rect">
            <a:avLst/>
          </a:prstGeom>
          <a:noFill/>
          <a:ln/>
        </p:spPr>
        <p:txBody>
          <a:bodyPr wrap="square" rtlCol="0" anchor="ctr"/>
          <a:lstStyle/>
          <a:p>
            <a:pPr indent="0" marL="0">
              <a:buNone/>
            </a:pPr>
            <a:r>
              <a:rPr lang="en-US" sz="3000" b="1" dirty="0">
                <a:solidFill>
                  <a:srgbClr val="C9D3E6"/>
                </a:solidFill>
                <a:latin typeface="Georgia" pitchFamily="34" charset="0"/>
                <a:ea typeface="Georgia" pitchFamily="34" charset="-122"/>
                <a:cs typeface="Georgia" pitchFamily="34" charset="-120"/>
              </a:rPr>
              <a:t>2</a:t>
            </a:r>
            <a:endParaRPr lang="en-US" sz="3000" dirty="0"/>
          </a:p>
        </p:txBody>
      </p:sp>
      <p:sp>
        <p:nvSpPr>
          <p:cNvPr id="9" name="Text 7"/>
          <p:cNvSpPr/>
          <p:nvPr/>
        </p:nvSpPr>
        <p:spPr>
          <a:xfrm>
            <a:off x="4709160" y="2651760"/>
            <a:ext cx="2788920" cy="640080"/>
          </a:xfrm>
          <a:prstGeom prst="rect">
            <a:avLst/>
          </a:prstGeom>
          <a:noFill/>
          <a:ln/>
        </p:spPr>
        <p:txBody>
          <a:bodyPr wrap="square" rtlCol="0" anchor="ctr"/>
          <a:lstStyle/>
          <a:p>
            <a:pPr indent="0" marL="0">
              <a:buNone/>
            </a:pPr>
            <a:r>
              <a:rPr lang="en-US" sz="2000" b="1" dirty="0">
                <a:solidFill>
                  <a:srgbClr val="1F3864"/>
                </a:solidFill>
                <a:latin typeface="Georgia" pitchFamily="34" charset="0"/>
                <a:ea typeface="Georgia" pitchFamily="34" charset="-122"/>
                <a:cs typeface="Georgia" pitchFamily="34" charset="-120"/>
              </a:rPr>
              <a:t>Se aguanta</a:t>
            </a:r>
            <a:endParaRPr lang="en-US" sz="2000" dirty="0"/>
          </a:p>
        </p:txBody>
      </p:sp>
      <p:sp>
        <p:nvSpPr>
          <p:cNvPr id="10" name="Text 8"/>
          <p:cNvSpPr/>
          <p:nvPr/>
        </p:nvSpPr>
        <p:spPr>
          <a:xfrm>
            <a:off x="4709160" y="3291840"/>
            <a:ext cx="2788920" cy="1143000"/>
          </a:xfrm>
          <a:prstGeom prst="rect">
            <a:avLst/>
          </a:prstGeom>
          <a:noFill/>
          <a:ln/>
        </p:spPr>
        <p:txBody>
          <a:bodyPr wrap="square" rtlCol="0" anchor="ctr"/>
          <a:lstStyle/>
          <a:p>
            <a:pPr indent="0" marL="0">
              <a:buNone/>
            </a:pPr>
            <a:r>
              <a:rPr lang="en-US" sz="1500" dirty="0">
                <a:solidFill>
                  <a:srgbClr val="22201D"/>
                </a:solidFill>
                <a:latin typeface="Calibri" pitchFamily="34" charset="0"/>
                <a:ea typeface="Calibri" pitchFamily="34" charset="-122"/>
                <a:cs typeface="Calibri" pitchFamily="34" charset="-120"/>
              </a:rPr>
              <a:t>Se espera al final del contrato prestando el servicio con lo que hay.</a:t>
            </a:r>
            <a:endParaRPr lang="en-US" sz="1500" dirty="0"/>
          </a:p>
        </p:txBody>
      </p:sp>
      <p:sp>
        <p:nvSpPr>
          <p:cNvPr id="11" name="Shape 9"/>
          <p:cNvSpPr/>
          <p:nvPr/>
        </p:nvSpPr>
        <p:spPr>
          <a:xfrm>
            <a:off x="8046720" y="1828800"/>
            <a:ext cx="3337560" cy="2697480"/>
          </a:xfrm>
          <a:prstGeom prst="roundRect">
            <a:avLst>
              <a:gd name="adj" fmla="val 3390"/>
            </a:avLst>
          </a:prstGeom>
          <a:solidFill>
            <a:srgbClr val="EDF1F8"/>
          </a:solidFill>
          <a:ln/>
        </p:spPr>
      </p:sp>
      <p:sp>
        <p:nvSpPr>
          <p:cNvPr id="12" name="Text 10"/>
          <p:cNvSpPr/>
          <p:nvPr/>
        </p:nvSpPr>
        <p:spPr>
          <a:xfrm>
            <a:off x="8321040" y="2057400"/>
            <a:ext cx="548640" cy="548640"/>
          </a:xfrm>
          <a:prstGeom prst="rect">
            <a:avLst/>
          </a:prstGeom>
          <a:noFill/>
          <a:ln/>
        </p:spPr>
        <p:txBody>
          <a:bodyPr wrap="square" rtlCol="0" anchor="ctr"/>
          <a:lstStyle/>
          <a:p>
            <a:pPr indent="0" marL="0">
              <a:buNone/>
            </a:pPr>
            <a:r>
              <a:rPr lang="en-US" sz="3000" b="1" dirty="0">
                <a:solidFill>
                  <a:srgbClr val="C9D3E6"/>
                </a:solidFill>
                <a:latin typeface="Georgia" pitchFamily="34" charset="0"/>
                <a:ea typeface="Georgia" pitchFamily="34" charset="-122"/>
                <a:cs typeface="Georgia" pitchFamily="34" charset="-120"/>
              </a:rPr>
              <a:t>3</a:t>
            </a:r>
            <a:endParaRPr lang="en-US" sz="3000" dirty="0"/>
          </a:p>
        </p:txBody>
      </p:sp>
      <p:sp>
        <p:nvSpPr>
          <p:cNvPr id="13" name="Text 11"/>
          <p:cNvSpPr/>
          <p:nvPr/>
        </p:nvSpPr>
        <p:spPr>
          <a:xfrm>
            <a:off x="8321040" y="2651760"/>
            <a:ext cx="2788920" cy="640080"/>
          </a:xfrm>
          <a:prstGeom prst="rect">
            <a:avLst/>
          </a:prstGeom>
          <a:noFill/>
          <a:ln/>
        </p:spPr>
        <p:txBody>
          <a:bodyPr wrap="square" rtlCol="0" anchor="ctr"/>
          <a:lstStyle/>
          <a:p>
            <a:pPr indent="0" marL="0">
              <a:buNone/>
            </a:pPr>
            <a:r>
              <a:rPr lang="en-US" sz="2000" b="1" dirty="0">
                <a:solidFill>
                  <a:srgbClr val="1F3864"/>
                </a:solidFill>
                <a:latin typeface="Georgia" pitchFamily="34" charset="0"/>
                <a:ea typeface="Georgia" pitchFamily="34" charset="-122"/>
                <a:cs typeface="Georgia" pitchFamily="34" charset="-120"/>
              </a:rPr>
              <a:t>Se queda cautivo</a:t>
            </a:r>
            <a:endParaRPr lang="en-US" sz="2000" dirty="0"/>
          </a:p>
        </p:txBody>
      </p:sp>
      <p:sp>
        <p:nvSpPr>
          <p:cNvPr id="14" name="Text 12"/>
          <p:cNvSpPr/>
          <p:nvPr/>
        </p:nvSpPr>
        <p:spPr>
          <a:xfrm>
            <a:off x="8321040" y="3291840"/>
            <a:ext cx="2788920" cy="1143000"/>
          </a:xfrm>
          <a:prstGeom prst="rect">
            <a:avLst/>
          </a:prstGeom>
          <a:noFill/>
          <a:ln/>
        </p:spPr>
        <p:txBody>
          <a:bodyPr wrap="square" rtlCol="0" anchor="ctr"/>
          <a:lstStyle/>
          <a:p>
            <a:pPr indent="0" marL="0">
              <a:buNone/>
            </a:pPr>
            <a:r>
              <a:rPr lang="en-US" sz="1500" dirty="0">
                <a:solidFill>
                  <a:srgbClr val="22201D"/>
                </a:solidFill>
                <a:latin typeface="Calibri" pitchFamily="34" charset="0"/>
                <a:ea typeface="Calibri" pitchFamily="34" charset="-122"/>
                <a:cs typeface="Calibri" pitchFamily="34" charset="-120"/>
              </a:rPr>
              <a:t>Cambiar de proveedor obligaría a dejar atrás los datos y los desarrollos propios. Sale tan caro que no se cambia.</a:t>
            </a:r>
            <a:endParaRPr lang="en-US" sz="1500" dirty="0"/>
          </a:p>
        </p:txBody>
      </p:sp>
      <p:sp>
        <p:nvSpPr>
          <p:cNvPr id="15" name="Text 13"/>
          <p:cNvSpPr/>
          <p:nvPr/>
        </p:nvSpPr>
        <p:spPr>
          <a:xfrm>
            <a:off x="822960" y="5989320"/>
            <a:ext cx="10515600" cy="548640"/>
          </a:xfrm>
          <a:prstGeom prst="rect">
            <a:avLst/>
          </a:prstGeom>
          <a:noFill/>
          <a:ln/>
        </p:spPr>
        <p:txBody>
          <a:bodyPr wrap="square" rtlCol="0" anchor="ctr"/>
          <a:lstStyle/>
          <a:p>
            <a:pPr indent="0" marL="0">
              <a:buNone/>
            </a:pPr>
            <a:r>
              <a:rPr lang="en-US" sz="1400" i="1" dirty="0">
                <a:solidFill>
                  <a:srgbClr val="6E6A63"/>
                </a:solidFill>
                <a:latin typeface="Calibri" pitchFamily="34" charset="0"/>
                <a:ea typeface="Calibri" pitchFamily="34" charset="-122"/>
                <a:cs typeface="Calibri" pitchFamily="34" charset="-120"/>
              </a:rPr>
              <a:t>La tercera es la peor: la licitación siguiente está decidida antes de publicarse.</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02920"/>
            <a:ext cx="10515600" cy="822960"/>
          </a:xfrm>
          <a:prstGeom prst="rect">
            <a:avLst/>
          </a:prstGeom>
          <a:noFill/>
          <a:ln/>
        </p:spPr>
        <p:txBody>
          <a:bodyPr wrap="square" rtlCol="0" anchor="ctr"/>
          <a:lstStyle/>
          <a:p>
            <a:pPr indent="0" marL="0">
              <a:buNone/>
            </a:pPr>
            <a:r>
              <a:rPr lang="en-US" sz="3600" b="1" dirty="0">
                <a:solidFill>
                  <a:srgbClr val="1F3864"/>
                </a:solidFill>
                <a:latin typeface="Georgia" pitchFamily="34" charset="0"/>
                <a:ea typeface="Georgia" pitchFamily="34" charset="-122"/>
                <a:cs typeface="Georgia" pitchFamily="34" charset="-120"/>
              </a:rPr>
              <a:t>«Que se comprometa a mantenerlo actualizado» no sirve</a:t>
            </a:r>
            <a:endParaRPr lang="en-US" sz="3600" dirty="0"/>
          </a:p>
        </p:txBody>
      </p:sp>
      <p:sp>
        <p:nvSpPr>
          <p:cNvPr id="3" name="Text 1"/>
          <p:cNvSpPr/>
          <p:nvPr/>
        </p:nvSpPr>
        <p:spPr>
          <a:xfrm>
            <a:off x="822960" y="1417320"/>
            <a:ext cx="10515600" cy="457200"/>
          </a:xfrm>
          <a:prstGeom prst="rect">
            <a:avLst/>
          </a:prstGeom>
          <a:noFill/>
          <a:ln/>
        </p:spPr>
        <p:txBody>
          <a:bodyPr wrap="square" rtlCol="0" anchor="ctr"/>
          <a:lstStyle/>
          <a:p>
            <a:pPr indent="0" marL="0">
              <a:buNone/>
            </a:pPr>
            <a:r>
              <a:rPr lang="en-US" sz="1800" dirty="0">
                <a:solidFill>
                  <a:srgbClr val="22201D"/>
                </a:solidFill>
                <a:latin typeface="Calibri" pitchFamily="34" charset="0"/>
                <a:ea typeface="Calibri" pitchFamily="34" charset="-122"/>
                <a:cs typeface="Calibri" pitchFamily="34" charset="-120"/>
              </a:rPr>
              <a:t>Suena razonable. Es lo primero que uno escribiría. Y no funciona por tres motivos:</a:t>
            </a:r>
            <a:endParaRPr lang="en-US" sz="1800" dirty="0"/>
          </a:p>
        </p:txBody>
      </p:sp>
      <p:sp>
        <p:nvSpPr>
          <p:cNvPr id="4" name="Shape 2"/>
          <p:cNvSpPr/>
          <p:nvPr/>
        </p:nvSpPr>
        <p:spPr>
          <a:xfrm>
            <a:off x="822960" y="2103120"/>
            <a:ext cx="82296" cy="987552"/>
          </a:xfrm>
          <a:prstGeom prst="rect">
            <a:avLst/>
          </a:prstGeom>
          <a:solidFill>
            <a:srgbClr val="1F3864"/>
          </a:solidFill>
          <a:ln/>
        </p:spPr>
      </p:sp>
      <p:sp>
        <p:nvSpPr>
          <p:cNvPr id="5" name="Text 3"/>
          <p:cNvSpPr/>
          <p:nvPr/>
        </p:nvSpPr>
        <p:spPr>
          <a:xfrm>
            <a:off x="1143000" y="2103120"/>
            <a:ext cx="3931920" cy="987552"/>
          </a:xfrm>
          <a:prstGeom prst="rect">
            <a:avLst/>
          </a:prstGeom>
          <a:noFill/>
          <a:ln/>
        </p:spPr>
        <p:txBody>
          <a:bodyPr wrap="square" rtlCol="0" anchor="ctr"/>
          <a:lstStyle/>
          <a:p>
            <a:pPr indent="0" marL="0">
              <a:buNone/>
            </a:pPr>
            <a:r>
              <a:rPr lang="en-US" sz="1900" b="1" dirty="0">
                <a:solidFill>
                  <a:srgbClr val="1F3864"/>
                </a:solidFill>
                <a:latin typeface="Georgia" pitchFamily="34" charset="0"/>
                <a:ea typeface="Georgia" pitchFamily="34" charset="-122"/>
                <a:cs typeface="Georgia" pitchFamily="34" charset="-120"/>
              </a:rPr>
              <a:t>La empresa no puede ponerle precio</a:t>
            </a:r>
            <a:endParaRPr lang="en-US" sz="1900" dirty="0"/>
          </a:p>
        </p:txBody>
      </p:sp>
      <p:sp>
        <p:nvSpPr>
          <p:cNvPr id="6" name="Text 4"/>
          <p:cNvSpPr/>
          <p:nvPr/>
        </p:nvSpPr>
        <p:spPr>
          <a:xfrm>
            <a:off x="5212080" y="2103120"/>
            <a:ext cx="6126480" cy="987552"/>
          </a:xfrm>
          <a:prstGeom prst="rect">
            <a:avLst/>
          </a:prstGeom>
          <a:noFill/>
          <a:ln/>
        </p:spPr>
        <p:txBody>
          <a:bodyPr wrap="square" rtlCol="0" anchor="ctr"/>
          <a:lstStyle/>
          <a:p>
            <a:pPr indent="0" marL="0">
              <a:buNone/>
            </a:pPr>
            <a:r>
              <a:rPr lang="en-US" sz="1550" dirty="0">
                <a:solidFill>
                  <a:srgbClr val="22201D"/>
                </a:solidFill>
                <a:latin typeface="Calibri" pitchFamily="34" charset="0"/>
                <a:ea typeface="Calibri" pitchFamily="34" charset="-122"/>
                <a:cs typeface="Calibri" pitchFamily="34" charset="-120"/>
              </a:rPr>
              <a:t>Se le pide algo cuyo contenido nadie conoce todavía. O infla la oferta por si acaso, o la ignora y ya discutirá durante la ejecución.</a:t>
            </a:r>
            <a:endParaRPr lang="en-US" sz="1550" dirty="0"/>
          </a:p>
        </p:txBody>
      </p:sp>
      <p:sp>
        <p:nvSpPr>
          <p:cNvPr id="7" name="Shape 5"/>
          <p:cNvSpPr/>
          <p:nvPr/>
        </p:nvSpPr>
        <p:spPr>
          <a:xfrm>
            <a:off x="822960" y="3310128"/>
            <a:ext cx="82296" cy="987552"/>
          </a:xfrm>
          <a:prstGeom prst="rect">
            <a:avLst/>
          </a:prstGeom>
          <a:solidFill>
            <a:srgbClr val="1F3864"/>
          </a:solidFill>
          <a:ln/>
        </p:spPr>
      </p:sp>
      <p:sp>
        <p:nvSpPr>
          <p:cNvPr id="8" name="Text 6"/>
          <p:cNvSpPr/>
          <p:nvPr/>
        </p:nvSpPr>
        <p:spPr>
          <a:xfrm>
            <a:off x="1143000" y="3310128"/>
            <a:ext cx="3931920" cy="987552"/>
          </a:xfrm>
          <a:prstGeom prst="rect">
            <a:avLst/>
          </a:prstGeom>
          <a:noFill/>
          <a:ln/>
        </p:spPr>
        <p:txBody>
          <a:bodyPr wrap="square" rtlCol="0" anchor="ctr"/>
          <a:lstStyle/>
          <a:p>
            <a:pPr indent="0" marL="0">
              <a:buNone/>
            </a:pPr>
            <a:r>
              <a:rPr lang="en-US" sz="1900" b="1" dirty="0">
                <a:solidFill>
                  <a:srgbClr val="1F3864"/>
                </a:solidFill>
                <a:latin typeface="Georgia" pitchFamily="34" charset="0"/>
                <a:ea typeface="Georgia" pitchFamily="34" charset="-122"/>
                <a:cs typeface="Georgia" pitchFamily="34" charset="-120"/>
              </a:rPr>
              <a:t>La administración no puede exigirlo</a:t>
            </a:r>
            <a:endParaRPr lang="en-US" sz="1900" dirty="0"/>
          </a:p>
        </p:txBody>
      </p:sp>
      <p:sp>
        <p:nvSpPr>
          <p:cNvPr id="9" name="Text 7"/>
          <p:cNvSpPr/>
          <p:nvPr/>
        </p:nvSpPr>
        <p:spPr>
          <a:xfrm>
            <a:off x="5212080" y="3310128"/>
            <a:ext cx="6126480" cy="987552"/>
          </a:xfrm>
          <a:prstGeom prst="rect">
            <a:avLst/>
          </a:prstGeom>
          <a:noFill/>
          <a:ln/>
        </p:spPr>
        <p:txBody>
          <a:bodyPr wrap="square" rtlCol="0" anchor="ctr"/>
          <a:lstStyle/>
          <a:p>
            <a:pPr indent="0" marL="0">
              <a:buNone/>
            </a:pPr>
            <a:r>
              <a:rPr lang="en-US" sz="1550" dirty="0">
                <a:solidFill>
                  <a:srgbClr val="22201D"/>
                </a:solidFill>
                <a:latin typeface="Calibri" pitchFamily="34" charset="0"/>
                <a:ea typeface="Calibri" pitchFamily="34" charset="-122"/>
                <a:cs typeface="Calibri" pitchFamily="34" charset="-120"/>
              </a:rPr>
              <a:t>Demostrar que una tecnología concreta «era necesaria» es una apreciación técnica que no se sostiene frente a un contratista bien asesorado.</a:t>
            </a:r>
            <a:endParaRPr lang="en-US" sz="1550" dirty="0"/>
          </a:p>
        </p:txBody>
      </p:sp>
      <p:sp>
        <p:nvSpPr>
          <p:cNvPr id="10" name="Shape 8"/>
          <p:cNvSpPr/>
          <p:nvPr/>
        </p:nvSpPr>
        <p:spPr>
          <a:xfrm>
            <a:off x="822960" y="4517136"/>
            <a:ext cx="82296" cy="987552"/>
          </a:xfrm>
          <a:prstGeom prst="rect">
            <a:avLst/>
          </a:prstGeom>
          <a:solidFill>
            <a:srgbClr val="1F3864"/>
          </a:solidFill>
          <a:ln/>
        </p:spPr>
      </p:sp>
      <p:sp>
        <p:nvSpPr>
          <p:cNvPr id="11" name="Text 9"/>
          <p:cNvSpPr/>
          <p:nvPr/>
        </p:nvSpPr>
        <p:spPr>
          <a:xfrm>
            <a:off x="1143000" y="4517136"/>
            <a:ext cx="3931920" cy="987552"/>
          </a:xfrm>
          <a:prstGeom prst="rect">
            <a:avLst/>
          </a:prstGeom>
          <a:noFill/>
          <a:ln/>
        </p:spPr>
        <p:txBody>
          <a:bodyPr wrap="square" rtlCol="0" anchor="ctr"/>
          <a:lstStyle/>
          <a:p>
            <a:pPr indent="0" marL="0">
              <a:buNone/>
            </a:pPr>
            <a:r>
              <a:rPr lang="en-US" sz="1900" b="1" dirty="0">
                <a:solidFill>
                  <a:srgbClr val="1F3864"/>
                </a:solidFill>
                <a:latin typeface="Georgia" pitchFamily="34" charset="0"/>
                <a:ea typeface="Georgia" pitchFamily="34" charset="-122"/>
                <a:cs typeface="Georgia" pitchFamily="34" charset="-120"/>
              </a:rPr>
              <a:t>Y un tribunal la anula</a:t>
            </a:r>
            <a:endParaRPr lang="en-US" sz="1900" dirty="0"/>
          </a:p>
        </p:txBody>
      </p:sp>
      <p:sp>
        <p:nvSpPr>
          <p:cNvPr id="12" name="Text 10"/>
          <p:cNvSpPr/>
          <p:nvPr/>
        </p:nvSpPr>
        <p:spPr>
          <a:xfrm>
            <a:off x="5212080" y="4517136"/>
            <a:ext cx="6126480" cy="987552"/>
          </a:xfrm>
          <a:prstGeom prst="rect">
            <a:avLst/>
          </a:prstGeom>
          <a:noFill/>
          <a:ln/>
        </p:spPr>
        <p:txBody>
          <a:bodyPr wrap="square" rtlCol="0" anchor="ctr"/>
          <a:lstStyle/>
          <a:p>
            <a:pPr indent="0" marL="0">
              <a:buNone/>
            </a:pPr>
            <a:r>
              <a:rPr lang="en-US" sz="1550" dirty="0">
                <a:solidFill>
                  <a:srgbClr val="22201D"/>
                </a:solidFill>
                <a:latin typeface="Calibri" pitchFamily="34" charset="0"/>
                <a:ea typeface="Calibri" pitchFamily="34" charset="-122"/>
                <a:cs typeface="Calibri" pitchFamily="34" charset="-120"/>
              </a:rPr>
              <a:t>Una obligación genérica no puede ser ni siquiera una obligación contractual, y menos aún una cuyo incumplimiento permita resolver el contrato.</a:t>
            </a:r>
            <a:endParaRPr lang="en-US" sz="1550" dirty="0"/>
          </a:p>
        </p:txBody>
      </p:sp>
      <p:sp>
        <p:nvSpPr>
          <p:cNvPr id="13" name="Text 11"/>
          <p:cNvSpPr/>
          <p:nvPr/>
        </p:nvSpPr>
        <p:spPr>
          <a:xfrm>
            <a:off x="822960" y="5989320"/>
            <a:ext cx="10515600" cy="548640"/>
          </a:xfrm>
          <a:prstGeom prst="rect">
            <a:avLst/>
          </a:prstGeom>
          <a:noFill/>
          <a:ln/>
        </p:spPr>
        <p:txBody>
          <a:bodyPr wrap="square" rtlCol="0" anchor="ctr"/>
          <a:lstStyle/>
          <a:p>
            <a:pPr indent="0" marL="0">
              <a:buNone/>
            </a:pPr>
            <a:r>
              <a:rPr lang="en-US" sz="1400" i="1" dirty="0">
                <a:solidFill>
                  <a:srgbClr val="6E6A63"/>
                </a:solidFill>
                <a:latin typeface="Calibri" pitchFamily="34" charset="0"/>
                <a:ea typeface="Calibri" pitchFamily="34" charset="-122"/>
                <a:cs typeface="Calibri" pitchFamily="34" charset="-120"/>
              </a:rPr>
              <a:t>El clausulado que no se puede exigir es peor que no tener clausulado: da falsa seguridad.</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02920"/>
            <a:ext cx="10515600" cy="822960"/>
          </a:xfrm>
          <a:prstGeom prst="rect">
            <a:avLst/>
          </a:prstGeom>
          <a:noFill/>
          <a:ln/>
        </p:spPr>
        <p:txBody>
          <a:bodyPr wrap="square" rtlCol="0" anchor="ctr"/>
          <a:lstStyle/>
          <a:p>
            <a:pPr indent="0" marL="0">
              <a:buNone/>
            </a:pPr>
            <a:r>
              <a:rPr lang="en-US" sz="3600" b="1" dirty="0">
                <a:solidFill>
                  <a:srgbClr val="1F3864"/>
                </a:solidFill>
                <a:latin typeface="Georgia" pitchFamily="34" charset="0"/>
                <a:ea typeface="Georgia" pitchFamily="34" charset="-122"/>
                <a:cs typeface="Georgia" pitchFamily="34" charset="-120"/>
              </a:rPr>
              <a:t>La vuelta de tuerca</a:t>
            </a:r>
            <a:endParaRPr lang="en-US" sz="3600" dirty="0"/>
          </a:p>
        </p:txBody>
      </p:sp>
      <p:sp>
        <p:nvSpPr>
          <p:cNvPr id="3" name="Text 1"/>
          <p:cNvSpPr/>
          <p:nvPr/>
        </p:nvSpPr>
        <p:spPr>
          <a:xfrm>
            <a:off x="822960" y="1463040"/>
            <a:ext cx="10515600" cy="457200"/>
          </a:xfrm>
          <a:prstGeom prst="rect">
            <a:avLst/>
          </a:prstGeom>
          <a:noFill/>
          <a:ln/>
        </p:spPr>
        <p:txBody>
          <a:bodyPr wrap="square" rtlCol="0" anchor="ctr"/>
          <a:lstStyle/>
          <a:p>
            <a:pPr indent="0" marL="0">
              <a:buNone/>
            </a:pPr>
            <a:r>
              <a:rPr lang="en-US" sz="1900" dirty="0">
                <a:solidFill>
                  <a:srgbClr val="6E6A63"/>
                </a:solidFill>
                <a:latin typeface="Calibri" pitchFamily="34" charset="0"/>
                <a:ea typeface="Calibri" pitchFamily="34" charset="-122"/>
                <a:cs typeface="Calibri" pitchFamily="34" charset="-120"/>
              </a:rPr>
              <a:t>En lugar de comprar una evolución futura indefinida…</a:t>
            </a:r>
            <a:endParaRPr lang="en-US" sz="1900" dirty="0"/>
          </a:p>
        </p:txBody>
      </p:sp>
      <p:sp>
        <p:nvSpPr>
          <p:cNvPr id="4" name="Shape 2"/>
          <p:cNvSpPr/>
          <p:nvPr/>
        </p:nvSpPr>
        <p:spPr>
          <a:xfrm>
            <a:off x="822960" y="2011680"/>
            <a:ext cx="10515600" cy="1737360"/>
          </a:xfrm>
          <a:prstGeom prst="roundRect">
            <a:avLst>
              <a:gd name="adj" fmla="val 5263"/>
            </a:avLst>
          </a:prstGeom>
          <a:solidFill>
            <a:srgbClr val="EFF5F0"/>
          </a:solidFill>
          <a:ln/>
        </p:spPr>
      </p:sp>
      <p:sp>
        <p:nvSpPr>
          <p:cNvPr id="5" name="Text 3"/>
          <p:cNvSpPr/>
          <p:nvPr/>
        </p:nvSpPr>
        <p:spPr>
          <a:xfrm>
            <a:off x="1280160" y="2286000"/>
            <a:ext cx="9601200" cy="1188720"/>
          </a:xfrm>
          <a:prstGeom prst="rect">
            <a:avLst/>
          </a:prstGeom>
          <a:noFill/>
          <a:ln/>
        </p:spPr>
        <p:txBody>
          <a:bodyPr wrap="square" rtlCol="0" anchor="ctr"/>
          <a:lstStyle/>
          <a:p>
            <a:pPr algn="ctr" indent="0" marL="0">
              <a:lnSpc>
                <a:spcPct val="120000"/>
              </a:lnSpc>
              <a:buNone/>
            </a:pPr>
            <a:r>
              <a:rPr lang="en-US" sz="2300" dirty="0">
                <a:solidFill>
                  <a:srgbClr val="22201D"/>
                </a:solidFill>
                <a:latin typeface="Georgia" pitchFamily="34" charset="0"/>
                <a:ea typeface="Georgia" pitchFamily="34" charset="-122"/>
                <a:cs typeface="Georgia" pitchFamily="34" charset="-120"/>
              </a:rPr>
              <a:t>…se compran capacidades concretas, con plazo y con criterios de aceptación</a:t>
            </a:r>
            <a:endParaRPr lang="en-US" sz="2300" dirty="0"/>
          </a:p>
          <a:p>
            <a:pPr algn="ctr" indent="0" marL="0">
              <a:lnSpc>
                <a:spcPct val="120000"/>
              </a:lnSpc>
              <a:buNone/>
            </a:pPr>
            <a:r>
              <a:rPr lang="en-US" sz="2300" dirty="0">
                <a:solidFill>
                  <a:srgbClr val="22201D"/>
                </a:solidFill>
                <a:latin typeface="Georgia" pitchFamily="34" charset="0"/>
                <a:ea typeface="Georgia" pitchFamily="34" charset="-122"/>
                <a:cs typeface="Georgia" pitchFamily="34" charset="-120"/>
              </a:rPr>
              <a:t>verificables, fijadas al licitar y revisadas cada año para las licitaciones siguientes.</a:t>
            </a:r>
            <a:endParaRPr lang="en-US" sz="2300" dirty="0"/>
          </a:p>
        </p:txBody>
      </p:sp>
      <p:sp>
        <p:nvSpPr>
          <p:cNvPr id="6" name="Text 4"/>
          <p:cNvSpPr/>
          <p:nvPr/>
        </p:nvSpPr>
        <p:spPr>
          <a:xfrm>
            <a:off x="822960" y="4069080"/>
            <a:ext cx="3337560" cy="457200"/>
          </a:xfrm>
          <a:prstGeom prst="rect">
            <a:avLst/>
          </a:prstGeom>
          <a:noFill/>
          <a:ln/>
        </p:spPr>
        <p:txBody>
          <a:bodyPr wrap="square" rtlCol="0" anchor="ctr"/>
          <a:lstStyle/>
          <a:p>
            <a:pPr indent="0" marL="0">
              <a:buNone/>
            </a:pPr>
            <a:r>
              <a:rPr lang="en-US" sz="1900" b="1" dirty="0">
                <a:solidFill>
                  <a:srgbClr val="2E6B3E"/>
                </a:solidFill>
                <a:latin typeface="Georgia" pitchFamily="34" charset="0"/>
                <a:ea typeface="Georgia" pitchFamily="34" charset="-122"/>
                <a:cs typeface="Georgia" pitchFamily="34" charset="-120"/>
              </a:rPr>
              <a:t>La empresa</a:t>
            </a:r>
            <a:endParaRPr lang="en-US" sz="1900" dirty="0"/>
          </a:p>
        </p:txBody>
      </p:sp>
      <p:sp>
        <p:nvSpPr>
          <p:cNvPr id="7" name="Text 5"/>
          <p:cNvSpPr/>
          <p:nvPr/>
        </p:nvSpPr>
        <p:spPr>
          <a:xfrm>
            <a:off x="822960" y="4526280"/>
            <a:ext cx="3337560" cy="1097280"/>
          </a:xfrm>
          <a:prstGeom prst="rect">
            <a:avLst/>
          </a:prstGeom>
          <a:noFill/>
          <a:ln/>
        </p:spPr>
        <p:txBody>
          <a:bodyPr wrap="square" rtlCol="0" anchor="ctr"/>
          <a:lstStyle/>
          <a:p>
            <a:pPr indent="0" marL="0">
              <a:buNone/>
            </a:pPr>
            <a:r>
              <a:rPr lang="en-US" sz="1550" dirty="0">
                <a:solidFill>
                  <a:srgbClr val="22201D"/>
                </a:solidFill>
                <a:latin typeface="Calibri" pitchFamily="34" charset="0"/>
                <a:ea typeface="Calibri" pitchFamily="34" charset="-122"/>
                <a:cs typeface="Calibri" pitchFamily="34" charset="-120"/>
              </a:rPr>
              <a:t>sabe exactamente qué está ofertando, y puede ponerle precio.</a:t>
            </a:r>
            <a:endParaRPr lang="en-US" sz="1550" dirty="0"/>
          </a:p>
        </p:txBody>
      </p:sp>
      <p:sp>
        <p:nvSpPr>
          <p:cNvPr id="8" name="Text 6"/>
          <p:cNvSpPr/>
          <p:nvPr/>
        </p:nvSpPr>
        <p:spPr>
          <a:xfrm>
            <a:off x="4434840" y="4069080"/>
            <a:ext cx="3337560" cy="457200"/>
          </a:xfrm>
          <a:prstGeom prst="rect">
            <a:avLst/>
          </a:prstGeom>
          <a:noFill/>
          <a:ln/>
        </p:spPr>
        <p:txBody>
          <a:bodyPr wrap="square" rtlCol="0" anchor="ctr"/>
          <a:lstStyle/>
          <a:p>
            <a:pPr indent="0" marL="0">
              <a:buNone/>
            </a:pPr>
            <a:r>
              <a:rPr lang="en-US" sz="1900" b="1" dirty="0">
                <a:solidFill>
                  <a:srgbClr val="2E6B3E"/>
                </a:solidFill>
                <a:latin typeface="Georgia" pitchFamily="34" charset="0"/>
                <a:ea typeface="Georgia" pitchFamily="34" charset="-122"/>
                <a:cs typeface="Georgia" pitchFamily="34" charset="-120"/>
              </a:rPr>
              <a:t>La administración</a:t>
            </a:r>
            <a:endParaRPr lang="en-US" sz="1900" dirty="0"/>
          </a:p>
        </p:txBody>
      </p:sp>
      <p:sp>
        <p:nvSpPr>
          <p:cNvPr id="9" name="Text 7"/>
          <p:cNvSpPr/>
          <p:nvPr/>
        </p:nvSpPr>
        <p:spPr>
          <a:xfrm>
            <a:off x="4434840" y="4526280"/>
            <a:ext cx="3337560" cy="1097280"/>
          </a:xfrm>
          <a:prstGeom prst="rect">
            <a:avLst/>
          </a:prstGeom>
          <a:noFill/>
          <a:ln/>
        </p:spPr>
        <p:txBody>
          <a:bodyPr wrap="square" rtlCol="0" anchor="ctr"/>
          <a:lstStyle/>
          <a:p>
            <a:pPr indent="0" marL="0">
              <a:buNone/>
            </a:pPr>
            <a:r>
              <a:rPr lang="en-US" sz="1550" dirty="0">
                <a:solidFill>
                  <a:srgbClr val="22201D"/>
                </a:solidFill>
                <a:latin typeface="Calibri" pitchFamily="34" charset="0"/>
                <a:ea typeface="Calibri" pitchFamily="34" charset="-122"/>
                <a:cs typeface="Calibri" pitchFamily="34" charset="-120"/>
              </a:rPr>
              <a:t>sabe exactamente qué puede exigir, y cuándo.</a:t>
            </a:r>
            <a:endParaRPr lang="en-US" sz="1550" dirty="0"/>
          </a:p>
        </p:txBody>
      </p:sp>
      <p:sp>
        <p:nvSpPr>
          <p:cNvPr id="10" name="Text 8"/>
          <p:cNvSpPr/>
          <p:nvPr/>
        </p:nvSpPr>
        <p:spPr>
          <a:xfrm>
            <a:off x="8046720" y="4069080"/>
            <a:ext cx="3337560" cy="457200"/>
          </a:xfrm>
          <a:prstGeom prst="rect">
            <a:avLst/>
          </a:prstGeom>
          <a:noFill/>
          <a:ln/>
        </p:spPr>
        <p:txBody>
          <a:bodyPr wrap="square" rtlCol="0" anchor="ctr"/>
          <a:lstStyle/>
          <a:p>
            <a:pPr indent="0" marL="0">
              <a:buNone/>
            </a:pPr>
            <a:r>
              <a:rPr lang="en-US" sz="1900" b="1" dirty="0">
                <a:solidFill>
                  <a:srgbClr val="2E6B3E"/>
                </a:solidFill>
                <a:latin typeface="Georgia" pitchFamily="34" charset="0"/>
                <a:ea typeface="Georgia" pitchFamily="34" charset="-122"/>
                <a:cs typeface="Georgia" pitchFamily="34" charset="-120"/>
              </a:rPr>
              <a:t>El tribunal</a:t>
            </a:r>
            <a:endParaRPr lang="en-US" sz="1900" dirty="0"/>
          </a:p>
        </p:txBody>
      </p:sp>
      <p:sp>
        <p:nvSpPr>
          <p:cNvPr id="11" name="Text 9"/>
          <p:cNvSpPr/>
          <p:nvPr/>
        </p:nvSpPr>
        <p:spPr>
          <a:xfrm>
            <a:off x="8046720" y="4526280"/>
            <a:ext cx="3337560" cy="1097280"/>
          </a:xfrm>
          <a:prstGeom prst="rect">
            <a:avLst/>
          </a:prstGeom>
          <a:noFill/>
          <a:ln/>
        </p:spPr>
        <p:txBody>
          <a:bodyPr wrap="square" rtlCol="0" anchor="ctr"/>
          <a:lstStyle/>
          <a:p>
            <a:pPr indent="0" marL="0">
              <a:buNone/>
            </a:pPr>
            <a:r>
              <a:rPr lang="en-US" sz="1550" dirty="0">
                <a:solidFill>
                  <a:srgbClr val="22201D"/>
                </a:solidFill>
                <a:latin typeface="Calibri" pitchFamily="34" charset="0"/>
                <a:ea typeface="Calibri" pitchFamily="34" charset="-122"/>
                <a:cs typeface="Calibri" pitchFamily="34" charset="-120"/>
              </a:rPr>
              <a:t>no tiene nada indeterminado que anular.</a:t>
            </a:r>
            <a:endParaRPr lang="en-US" sz="1550" dirty="0"/>
          </a:p>
        </p:txBody>
      </p:sp>
      <p:sp>
        <p:nvSpPr>
          <p:cNvPr id="12" name="Text 10"/>
          <p:cNvSpPr/>
          <p:nvPr/>
        </p:nvSpPr>
        <p:spPr>
          <a:xfrm>
            <a:off x="822960" y="5989320"/>
            <a:ext cx="10515600" cy="548640"/>
          </a:xfrm>
          <a:prstGeom prst="rect">
            <a:avLst/>
          </a:prstGeom>
          <a:noFill/>
          <a:ln/>
        </p:spPr>
        <p:txBody>
          <a:bodyPr wrap="square" rtlCol="0" anchor="ctr"/>
          <a:lstStyle/>
          <a:p>
            <a:pPr indent="0" marL="0">
              <a:buNone/>
            </a:pPr>
            <a:r>
              <a:rPr lang="en-US" sz="1400" i="1" dirty="0">
                <a:solidFill>
                  <a:srgbClr val="6E6A63"/>
                </a:solidFill>
                <a:latin typeface="Calibri" pitchFamily="34" charset="0"/>
                <a:ea typeface="Calibri" pitchFamily="34" charset="-122"/>
                <a:cs typeface="Calibri" pitchFamily="34" charset="-120"/>
              </a:rPr>
              <a:t>Lo que no se pueda concretar hoy, se concreta el año que viene, en la licitación siguiente.</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02920"/>
            <a:ext cx="10515600" cy="822960"/>
          </a:xfrm>
          <a:prstGeom prst="rect">
            <a:avLst/>
          </a:prstGeom>
          <a:noFill/>
          <a:ln/>
        </p:spPr>
        <p:txBody>
          <a:bodyPr wrap="square" rtlCol="0" anchor="ctr"/>
          <a:lstStyle/>
          <a:p>
            <a:pPr indent="0" marL="0">
              <a:buNone/>
            </a:pPr>
            <a:r>
              <a:rPr lang="en-US" sz="3600" b="1" dirty="0">
                <a:solidFill>
                  <a:srgbClr val="1F3864"/>
                </a:solidFill>
                <a:latin typeface="Georgia" pitchFamily="34" charset="0"/>
                <a:ea typeface="Georgia" pitchFamily="34" charset="-122"/>
                <a:cs typeface="Georgia" pitchFamily="34" charset="-120"/>
              </a:rPr>
              <a:t>La otra mitad del problema: de quién son los datos</a:t>
            </a:r>
            <a:endParaRPr lang="en-US" sz="3600" dirty="0"/>
          </a:p>
        </p:txBody>
      </p:sp>
      <p:sp>
        <p:nvSpPr>
          <p:cNvPr id="3" name="Text 1"/>
          <p:cNvSpPr/>
          <p:nvPr/>
        </p:nvSpPr>
        <p:spPr>
          <a:xfrm>
            <a:off x="822960" y="1417320"/>
            <a:ext cx="10515600" cy="731520"/>
          </a:xfrm>
          <a:prstGeom prst="rect">
            <a:avLst/>
          </a:prstGeom>
          <a:noFill/>
          <a:ln/>
        </p:spPr>
        <p:txBody>
          <a:bodyPr wrap="square" rtlCol="0" anchor="ctr"/>
          <a:lstStyle/>
          <a:p>
            <a:pPr indent="0" marL="0">
              <a:buNone/>
            </a:pPr>
            <a:r>
              <a:rPr lang="en-US" sz="1800" dirty="0">
                <a:solidFill>
                  <a:srgbClr val="22201D"/>
                </a:solidFill>
                <a:latin typeface="Calibri" pitchFamily="34" charset="0"/>
                <a:ea typeface="Calibri" pitchFamily="34" charset="-122"/>
                <a:cs typeface="Calibri" pitchFamily="34" charset="-120"/>
              </a:rPr>
              <a:t>Un pliego puede restringir la competencia de dos maneras. La conocida es escribirlo a medida de un proveedor. La otra es más silenciosa:</a:t>
            </a:r>
            <a:endParaRPr lang="en-US" sz="1800" dirty="0"/>
          </a:p>
        </p:txBody>
      </p:sp>
      <p:sp>
        <p:nvSpPr>
          <p:cNvPr id="4" name="Shape 2"/>
          <p:cNvSpPr/>
          <p:nvPr/>
        </p:nvSpPr>
        <p:spPr>
          <a:xfrm>
            <a:off x="822960" y="2286000"/>
            <a:ext cx="10515600" cy="1234440"/>
          </a:xfrm>
          <a:prstGeom prst="roundRect">
            <a:avLst>
              <a:gd name="adj" fmla="val 7407"/>
            </a:avLst>
          </a:prstGeom>
          <a:solidFill>
            <a:srgbClr val="FDF6E6"/>
          </a:solidFill>
          <a:ln/>
        </p:spPr>
      </p:sp>
      <p:sp>
        <p:nvSpPr>
          <p:cNvPr id="5" name="Text 3"/>
          <p:cNvSpPr/>
          <p:nvPr/>
        </p:nvSpPr>
        <p:spPr>
          <a:xfrm>
            <a:off x="1234440" y="2514600"/>
            <a:ext cx="9692640" cy="822960"/>
          </a:xfrm>
          <a:prstGeom prst="rect">
            <a:avLst/>
          </a:prstGeom>
          <a:noFill/>
          <a:ln/>
        </p:spPr>
        <p:txBody>
          <a:bodyPr wrap="square" rtlCol="0" anchor="ctr"/>
          <a:lstStyle/>
          <a:p>
            <a:pPr indent="0" marL="0">
              <a:buNone/>
            </a:pPr>
            <a:r>
              <a:rPr lang="en-US" sz="1800" dirty="0">
                <a:solidFill>
                  <a:srgbClr val="22201D"/>
                </a:solidFill>
                <a:latin typeface="Calibri" pitchFamily="34" charset="0"/>
                <a:ea typeface="Calibri" pitchFamily="34" charset="-122"/>
                <a:cs typeface="Calibri" pitchFamily="34" charset="-120"/>
              </a:rPr>
              <a:t>Si al terminar el contrato los datos, los desarrollos y la lógica de negocio se quedan con el proveedor saliente, cambiar de empresa es tan caro que nadie cambia.</a:t>
            </a:r>
            <a:endParaRPr lang="en-US" sz="1800" dirty="0"/>
          </a:p>
        </p:txBody>
      </p:sp>
      <p:sp>
        <p:nvSpPr>
          <p:cNvPr id="6" name="Text 4"/>
          <p:cNvSpPr/>
          <p:nvPr/>
        </p:nvSpPr>
        <p:spPr>
          <a:xfrm>
            <a:off x="822960" y="3794760"/>
            <a:ext cx="10515600" cy="411480"/>
          </a:xfrm>
          <a:prstGeom prst="rect">
            <a:avLst/>
          </a:prstGeom>
          <a:noFill/>
          <a:ln/>
        </p:spPr>
        <p:txBody>
          <a:bodyPr wrap="square" rtlCol="0" anchor="ctr"/>
          <a:lstStyle/>
          <a:p>
            <a:pPr indent="0" marL="0">
              <a:buNone/>
            </a:pPr>
            <a:r>
              <a:rPr lang="en-US" sz="1700" dirty="0">
                <a:solidFill>
                  <a:srgbClr val="6E6A63"/>
                </a:solidFill>
                <a:latin typeface="Calibri" pitchFamily="34" charset="0"/>
                <a:ea typeface="Calibri" pitchFamily="34" charset="-122"/>
                <a:cs typeface="Calibri" pitchFamily="34" charset="-120"/>
              </a:rPr>
              <a:t>Por eso una parte central del clausulado no habla de inteligencia artificial:</a:t>
            </a:r>
            <a:endParaRPr lang="en-US" sz="1700" dirty="0"/>
          </a:p>
        </p:txBody>
      </p:sp>
      <p:sp>
        <p:nvSpPr>
          <p:cNvPr id="7" name="Shape 5"/>
          <p:cNvSpPr/>
          <p:nvPr/>
        </p:nvSpPr>
        <p:spPr>
          <a:xfrm>
            <a:off x="822960" y="4297680"/>
            <a:ext cx="3337560" cy="1371600"/>
          </a:xfrm>
          <a:prstGeom prst="roundRect">
            <a:avLst>
              <a:gd name="adj" fmla="val 6667"/>
            </a:avLst>
          </a:prstGeom>
          <a:solidFill>
            <a:srgbClr val="EFF5F0"/>
          </a:solidFill>
          <a:ln/>
        </p:spPr>
      </p:sp>
      <p:sp>
        <p:nvSpPr>
          <p:cNvPr id="8" name="Text 6"/>
          <p:cNvSpPr/>
          <p:nvPr/>
        </p:nvSpPr>
        <p:spPr>
          <a:xfrm>
            <a:off x="1097280" y="4480560"/>
            <a:ext cx="2788920" cy="457200"/>
          </a:xfrm>
          <a:prstGeom prst="rect">
            <a:avLst/>
          </a:prstGeom>
          <a:noFill/>
          <a:ln/>
        </p:spPr>
        <p:txBody>
          <a:bodyPr wrap="square" rtlCol="0" anchor="ctr"/>
          <a:lstStyle/>
          <a:p>
            <a:pPr indent="0" marL="0">
              <a:buNone/>
            </a:pPr>
            <a:r>
              <a:rPr lang="en-US" sz="1700" b="1" dirty="0">
                <a:solidFill>
                  <a:srgbClr val="2E6B3E"/>
                </a:solidFill>
                <a:latin typeface="Georgia" pitchFamily="34" charset="0"/>
                <a:ea typeface="Georgia" pitchFamily="34" charset="-122"/>
                <a:cs typeface="Georgia" pitchFamily="34" charset="-120"/>
              </a:rPr>
              <a:t>De quién son los datos</a:t>
            </a:r>
            <a:endParaRPr lang="en-US" sz="1700" dirty="0"/>
          </a:p>
        </p:txBody>
      </p:sp>
      <p:sp>
        <p:nvSpPr>
          <p:cNvPr id="9" name="Text 7"/>
          <p:cNvSpPr/>
          <p:nvPr/>
        </p:nvSpPr>
        <p:spPr>
          <a:xfrm>
            <a:off x="1097280" y="4937760"/>
            <a:ext cx="2788920" cy="640080"/>
          </a:xfrm>
          <a:prstGeom prst="rect">
            <a:avLst/>
          </a:prstGeom>
          <a:noFill/>
          <a:ln/>
        </p:spPr>
        <p:txBody>
          <a:bodyPr wrap="square" rtlCol="0" anchor="ctr"/>
          <a:lstStyle/>
          <a:p>
            <a:pPr indent="0" marL="0">
              <a:buNone/>
            </a:pPr>
            <a:r>
              <a:rPr lang="en-US" sz="1400" dirty="0">
                <a:solidFill>
                  <a:srgbClr val="22201D"/>
                </a:solidFill>
                <a:latin typeface="Calibri" pitchFamily="34" charset="0"/>
                <a:ea typeface="Calibri" pitchFamily="34" charset="-122"/>
                <a:cs typeface="Calibri" pitchFamily="34" charset="-120"/>
              </a:rPr>
              <a:t>y en qué formato se devuelven</a:t>
            </a:r>
            <a:endParaRPr lang="en-US" sz="1400" dirty="0"/>
          </a:p>
        </p:txBody>
      </p:sp>
      <p:sp>
        <p:nvSpPr>
          <p:cNvPr id="10" name="Shape 8"/>
          <p:cNvSpPr/>
          <p:nvPr/>
        </p:nvSpPr>
        <p:spPr>
          <a:xfrm>
            <a:off x="4434840" y="4297680"/>
            <a:ext cx="3337560" cy="1371600"/>
          </a:xfrm>
          <a:prstGeom prst="roundRect">
            <a:avLst>
              <a:gd name="adj" fmla="val 6667"/>
            </a:avLst>
          </a:prstGeom>
          <a:solidFill>
            <a:srgbClr val="EFF5F0"/>
          </a:solidFill>
          <a:ln/>
        </p:spPr>
      </p:sp>
      <p:sp>
        <p:nvSpPr>
          <p:cNvPr id="11" name="Text 9"/>
          <p:cNvSpPr/>
          <p:nvPr/>
        </p:nvSpPr>
        <p:spPr>
          <a:xfrm>
            <a:off x="4709160" y="4480560"/>
            <a:ext cx="2788920" cy="457200"/>
          </a:xfrm>
          <a:prstGeom prst="rect">
            <a:avLst/>
          </a:prstGeom>
          <a:noFill/>
          <a:ln/>
        </p:spPr>
        <p:txBody>
          <a:bodyPr wrap="square" rtlCol="0" anchor="ctr"/>
          <a:lstStyle/>
          <a:p>
            <a:pPr indent="0" marL="0">
              <a:buNone/>
            </a:pPr>
            <a:r>
              <a:rPr lang="en-US" sz="1700" b="1" dirty="0">
                <a:solidFill>
                  <a:srgbClr val="2E6B3E"/>
                </a:solidFill>
                <a:latin typeface="Georgia" pitchFamily="34" charset="0"/>
                <a:ea typeface="Georgia" pitchFamily="34" charset="-122"/>
                <a:cs typeface="Georgia" pitchFamily="34" charset="-120"/>
              </a:rPr>
              <a:t>De quién son los algoritmos</a:t>
            </a:r>
            <a:endParaRPr lang="en-US" sz="1700" dirty="0"/>
          </a:p>
        </p:txBody>
      </p:sp>
      <p:sp>
        <p:nvSpPr>
          <p:cNvPr id="12" name="Text 10"/>
          <p:cNvSpPr/>
          <p:nvPr/>
        </p:nvSpPr>
        <p:spPr>
          <a:xfrm>
            <a:off x="4709160" y="4937760"/>
            <a:ext cx="2788920" cy="640080"/>
          </a:xfrm>
          <a:prstGeom prst="rect">
            <a:avLst/>
          </a:prstGeom>
          <a:noFill/>
          <a:ln/>
        </p:spPr>
        <p:txBody>
          <a:bodyPr wrap="square" rtlCol="0" anchor="ctr"/>
          <a:lstStyle/>
          <a:p>
            <a:pPr indent="0" marL="0">
              <a:buNone/>
            </a:pPr>
            <a:r>
              <a:rPr lang="en-US" sz="1400" dirty="0">
                <a:solidFill>
                  <a:srgbClr val="22201D"/>
                </a:solidFill>
                <a:latin typeface="Calibri" pitchFamily="34" charset="0"/>
                <a:ea typeface="Calibri" pitchFamily="34" charset="-122"/>
                <a:cs typeface="Calibri" pitchFamily="34" charset="-120"/>
              </a:rPr>
              <a:t>hechos a medida para la administración</a:t>
            </a:r>
            <a:endParaRPr lang="en-US" sz="1400" dirty="0"/>
          </a:p>
        </p:txBody>
      </p:sp>
      <p:sp>
        <p:nvSpPr>
          <p:cNvPr id="13" name="Shape 11"/>
          <p:cNvSpPr/>
          <p:nvPr/>
        </p:nvSpPr>
        <p:spPr>
          <a:xfrm>
            <a:off x="8046720" y="4297680"/>
            <a:ext cx="3337560" cy="1371600"/>
          </a:xfrm>
          <a:prstGeom prst="roundRect">
            <a:avLst>
              <a:gd name="adj" fmla="val 6667"/>
            </a:avLst>
          </a:prstGeom>
          <a:solidFill>
            <a:srgbClr val="EFF5F0"/>
          </a:solidFill>
          <a:ln/>
        </p:spPr>
      </p:sp>
      <p:sp>
        <p:nvSpPr>
          <p:cNvPr id="14" name="Text 12"/>
          <p:cNvSpPr/>
          <p:nvPr/>
        </p:nvSpPr>
        <p:spPr>
          <a:xfrm>
            <a:off x="8321040" y="4480560"/>
            <a:ext cx="2788920" cy="457200"/>
          </a:xfrm>
          <a:prstGeom prst="rect">
            <a:avLst/>
          </a:prstGeom>
          <a:noFill/>
          <a:ln/>
        </p:spPr>
        <p:txBody>
          <a:bodyPr wrap="square" rtlCol="0" anchor="ctr"/>
          <a:lstStyle/>
          <a:p>
            <a:pPr indent="0" marL="0">
              <a:buNone/>
            </a:pPr>
            <a:r>
              <a:rPr lang="en-US" sz="1700" b="1" dirty="0">
                <a:solidFill>
                  <a:srgbClr val="2E6B3E"/>
                </a:solidFill>
                <a:latin typeface="Georgia" pitchFamily="34" charset="0"/>
                <a:ea typeface="Georgia" pitchFamily="34" charset="-122"/>
                <a:cs typeface="Georgia" pitchFamily="34" charset="-120"/>
              </a:rPr>
              <a:t>Qué se entrega al terminar</a:t>
            </a:r>
            <a:endParaRPr lang="en-US" sz="1700" dirty="0"/>
          </a:p>
        </p:txBody>
      </p:sp>
      <p:sp>
        <p:nvSpPr>
          <p:cNvPr id="15" name="Text 13"/>
          <p:cNvSpPr/>
          <p:nvPr/>
        </p:nvSpPr>
        <p:spPr>
          <a:xfrm>
            <a:off x="8321040" y="4937760"/>
            <a:ext cx="2788920" cy="640080"/>
          </a:xfrm>
          <a:prstGeom prst="rect">
            <a:avLst/>
          </a:prstGeom>
          <a:noFill/>
          <a:ln/>
        </p:spPr>
        <p:txBody>
          <a:bodyPr wrap="square" rtlCol="0" anchor="ctr"/>
          <a:lstStyle/>
          <a:p>
            <a:pPr indent="0" marL="0">
              <a:buNone/>
            </a:pPr>
            <a:r>
              <a:rPr lang="en-US" sz="1400" dirty="0">
                <a:solidFill>
                  <a:srgbClr val="22201D"/>
                </a:solidFill>
                <a:latin typeface="Calibri" pitchFamily="34" charset="0"/>
                <a:ea typeface="Calibri" pitchFamily="34" charset="-122"/>
                <a:cs typeface="Calibri" pitchFamily="34" charset="-120"/>
              </a:rPr>
              <a:t>en qué plazo, y quién comprueba que funciona</a:t>
            </a:r>
            <a:endParaRPr lang="en-US" sz="1400" dirty="0"/>
          </a:p>
        </p:txBody>
      </p:sp>
      <p:sp>
        <p:nvSpPr>
          <p:cNvPr id="16" name="Text 14"/>
          <p:cNvSpPr/>
          <p:nvPr/>
        </p:nvSpPr>
        <p:spPr>
          <a:xfrm>
            <a:off x="822960" y="5989320"/>
            <a:ext cx="10515600" cy="548640"/>
          </a:xfrm>
          <a:prstGeom prst="rect">
            <a:avLst/>
          </a:prstGeom>
          <a:noFill/>
          <a:ln/>
        </p:spPr>
        <p:txBody>
          <a:bodyPr wrap="square" rtlCol="0" anchor="ctr"/>
          <a:lstStyle/>
          <a:p>
            <a:pPr indent="0" marL="0">
              <a:buNone/>
            </a:pPr>
            <a:r>
              <a:rPr lang="en-US" sz="1400" i="1" dirty="0">
                <a:solidFill>
                  <a:srgbClr val="6E6A63"/>
                </a:solidFill>
                <a:latin typeface="Calibri" pitchFamily="34" charset="0"/>
                <a:ea typeface="Calibri" pitchFamily="34" charset="-122"/>
                <a:cs typeface="Calibri" pitchFamily="34" charset="-120"/>
              </a:rPr>
              <a:t>Un pliego que restringe la competencia no es más exigente: es más frágil.</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02920"/>
            <a:ext cx="10515600" cy="822960"/>
          </a:xfrm>
          <a:prstGeom prst="rect">
            <a:avLst/>
          </a:prstGeom>
          <a:noFill/>
          <a:ln/>
        </p:spPr>
        <p:txBody>
          <a:bodyPr wrap="square" rtlCol="0" anchor="ctr"/>
          <a:lstStyle/>
          <a:p>
            <a:pPr indent="0" marL="0">
              <a:buNone/>
            </a:pPr>
            <a:r>
              <a:rPr lang="en-US" sz="3600" b="1" dirty="0">
                <a:solidFill>
                  <a:srgbClr val="1F3864"/>
                </a:solidFill>
                <a:latin typeface="Georgia" pitchFamily="34" charset="0"/>
                <a:ea typeface="Georgia" pitchFamily="34" charset="-122"/>
                <a:cs typeface="Georgia" pitchFamily="34" charset="-120"/>
              </a:rPr>
              <a:t>Lo que este documento NO promete</a:t>
            </a:r>
            <a:endParaRPr lang="en-US" sz="3600" dirty="0"/>
          </a:p>
        </p:txBody>
      </p:sp>
      <p:sp>
        <p:nvSpPr>
          <p:cNvPr id="3" name="Shape 1"/>
          <p:cNvSpPr/>
          <p:nvPr/>
        </p:nvSpPr>
        <p:spPr>
          <a:xfrm>
            <a:off x="822960" y="1554480"/>
            <a:ext cx="10515600" cy="1371600"/>
          </a:xfrm>
          <a:prstGeom prst="roundRect">
            <a:avLst>
              <a:gd name="adj" fmla="val 6667"/>
            </a:avLst>
          </a:prstGeom>
          <a:solidFill>
            <a:srgbClr val="FDF6E6"/>
          </a:solidFill>
          <a:ln/>
        </p:spPr>
      </p:sp>
      <p:sp>
        <p:nvSpPr>
          <p:cNvPr id="4" name="Text 2"/>
          <p:cNvSpPr/>
          <p:nvPr/>
        </p:nvSpPr>
        <p:spPr>
          <a:xfrm>
            <a:off x="1234440" y="1783080"/>
            <a:ext cx="9692640" cy="914400"/>
          </a:xfrm>
          <a:prstGeom prst="rect">
            <a:avLst/>
          </a:prstGeom>
          <a:noFill/>
          <a:ln/>
        </p:spPr>
        <p:txBody>
          <a:bodyPr wrap="square" rtlCol="0" anchor="ctr"/>
          <a:lstStyle/>
          <a:p>
            <a:pPr indent="0" marL="0">
              <a:lnSpc>
                <a:spcPct val="120000"/>
              </a:lnSpc>
              <a:buNone/>
            </a:pPr>
            <a:r>
              <a:rPr lang="en-US" sz="2000" dirty="0">
                <a:solidFill>
                  <a:srgbClr val="22201D"/>
                </a:solidFill>
                <a:latin typeface="Georgia" pitchFamily="34" charset="0"/>
                <a:ea typeface="Georgia" pitchFamily="34" charset="-122"/>
                <a:cs typeface="Georgia" pitchFamily="34" charset="-120"/>
              </a:rPr>
              <a:t>No se promete que ningún tribunal pueda anular nada.</a:t>
            </a:r>
            <a:endParaRPr lang="en-US" sz="2000" dirty="0"/>
          </a:p>
          <a:p>
            <a:pPr indent="0" marL="0">
              <a:lnSpc>
                <a:spcPct val="120000"/>
              </a:lnSpc>
              <a:buNone/>
            </a:pPr>
            <a:r>
              <a:rPr lang="en-US" sz="2000" dirty="0">
                <a:solidFill>
                  <a:srgbClr val="22201D"/>
                </a:solidFill>
                <a:latin typeface="Georgia" pitchFamily="34" charset="0"/>
                <a:ea typeface="Georgia" pitchFamily="34" charset="-122"/>
                <a:cs typeface="Georgia" pitchFamily="34" charset="-120"/>
              </a:rPr>
              <a:t>No es prometible: aún no existe doctrina sobre cláusulas de IA en contratación pública.</a:t>
            </a:r>
            <a:endParaRPr lang="en-US" sz="2000" dirty="0"/>
          </a:p>
        </p:txBody>
      </p:sp>
      <p:sp>
        <p:nvSpPr>
          <p:cNvPr id="5" name="Text 3"/>
          <p:cNvSpPr/>
          <p:nvPr/>
        </p:nvSpPr>
        <p:spPr>
          <a:xfrm>
            <a:off x="822960" y="3200400"/>
            <a:ext cx="10515600" cy="457200"/>
          </a:xfrm>
          <a:prstGeom prst="rect">
            <a:avLst/>
          </a:prstGeom>
          <a:noFill/>
          <a:ln/>
        </p:spPr>
        <p:txBody>
          <a:bodyPr wrap="square" rtlCol="0" anchor="ctr"/>
          <a:lstStyle/>
          <a:p>
            <a:pPr indent="0" marL="0">
              <a:buNone/>
            </a:pPr>
            <a:r>
              <a:rPr lang="en-US" sz="1800" b="1" dirty="0">
                <a:solidFill>
                  <a:srgbClr val="1F3864"/>
                </a:solidFill>
                <a:latin typeface="Calibri" pitchFamily="34" charset="0"/>
                <a:ea typeface="Calibri" pitchFamily="34" charset="-122"/>
                <a:cs typeface="Calibri" pitchFamily="34" charset="-120"/>
              </a:rPr>
              <a:t>Lo que sí está diseñado, y se puede comprobar cláusula por cláusula:</a:t>
            </a:r>
            <a:endParaRPr lang="en-US" sz="1800" dirty="0"/>
          </a:p>
        </p:txBody>
      </p:sp>
      <p:sp>
        <p:nvSpPr>
          <p:cNvPr id="6" name="Text 4"/>
          <p:cNvSpPr/>
          <p:nvPr/>
        </p:nvSpPr>
        <p:spPr>
          <a:xfrm>
            <a:off x="1097280" y="3749040"/>
            <a:ext cx="10058400" cy="2011680"/>
          </a:xfrm>
          <a:prstGeom prst="rect">
            <a:avLst/>
          </a:prstGeom>
          <a:noFill/>
          <a:ln/>
        </p:spPr>
        <p:txBody>
          <a:bodyPr wrap="square" rtlCol="0" anchor="ctr"/>
          <a:lstStyle/>
          <a:p>
            <a:pPr marL="342900" indent="-342900">
              <a:lnSpc>
                <a:spcPct val="135000"/>
              </a:lnSpc>
              <a:buSzPct val="100000"/>
              <a:buChar char="•"/>
            </a:pPr>
            <a:r>
              <a:rPr lang="en-US" sz="1700" dirty="0">
                <a:solidFill>
                  <a:srgbClr val="22201D"/>
                </a:solidFill>
                <a:latin typeface="Calibri" pitchFamily="34" charset="0"/>
                <a:ea typeface="Calibri" pitchFamily="34" charset="-122"/>
                <a:cs typeface="Calibri" pitchFamily="34" charset="-120"/>
              </a:rPr>
              <a:t>una necesidad identificada, y la norma o el acuerdo que la impone;
</a:t>
            </a:r>
            <a:endParaRPr lang="en-US" sz="1700" dirty="0"/>
          </a:p>
          <a:p>
            <a:pPr marL="342900" indent="-342900">
              <a:lnSpc>
                <a:spcPct val="135000"/>
              </a:lnSpc>
              <a:buSzPct val="100000"/>
              <a:buChar char="•"/>
            </a:pPr>
            <a:r>
              <a:rPr lang="en-US" sz="1700" dirty="0">
                <a:solidFill>
                  <a:srgbClr val="22201D"/>
                </a:solidFill>
                <a:latin typeface="Calibri" pitchFamily="34" charset="0"/>
                <a:ea typeface="Calibri" pitchFamily="34" charset="-122"/>
                <a:cs typeface="Calibri" pitchFamily="34" charset="-120"/>
              </a:rPr>
              <a:t>un instrumento correcto, y sólo uno, para que nada se puntúe dos veces;
</a:t>
            </a:r>
            <a:endParaRPr lang="en-US" sz="1700" dirty="0"/>
          </a:p>
          <a:p>
            <a:pPr marL="342900" indent="-342900">
              <a:lnSpc>
                <a:spcPct val="135000"/>
              </a:lnSpc>
              <a:buSzPct val="100000"/>
              <a:buChar char="•"/>
            </a:pPr>
            <a:r>
              <a:rPr lang="en-US" sz="1700" dirty="0">
                <a:solidFill>
                  <a:srgbClr val="22201D"/>
                </a:solidFill>
                <a:latin typeface="Calibri" pitchFamily="34" charset="0"/>
                <a:ea typeface="Calibri" pitchFamily="34" charset="-122"/>
                <a:cs typeface="Calibri" pitchFamily="34" charset="-120"/>
              </a:rPr>
              <a:t>un medio de acreditación y una forma de verificación, con quién la hace y cuánto cuesta;
</a:t>
            </a:r>
            <a:endParaRPr lang="en-US" sz="1700" dirty="0"/>
          </a:p>
          <a:p>
            <a:pPr marL="342900" indent="-342900">
              <a:lnSpc>
                <a:spcPct val="135000"/>
              </a:lnSpc>
              <a:buSzPct val="100000"/>
              <a:buChar char="•"/>
            </a:pPr>
            <a:r>
              <a:rPr lang="en-US" sz="1700" dirty="0">
                <a:solidFill>
                  <a:srgbClr val="22201D"/>
                </a:solidFill>
                <a:latin typeface="Calibri" pitchFamily="34" charset="0"/>
                <a:ea typeface="Calibri" pitchFamily="34" charset="-122"/>
                <a:cs typeface="Calibri" pitchFamily="34" charset="-120"/>
              </a:rPr>
              <a:t>una consecuencia tasada si se incumple, proporcionada y dentro de los límites legales;
</a:t>
            </a:r>
            <a:endParaRPr lang="en-US" sz="1700" dirty="0"/>
          </a:p>
          <a:p>
            <a:pPr marL="342900" indent="-342900">
              <a:lnSpc>
                <a:spcPct val="135000"/>
              </a:lnSpc>
              <a:buSzPct val="100000"/>
              <a:buChar char="•"/>
            </a:pPr>
            <a:r>
              <a:rPr lang="en-US" sz="1700" dirty="0">
                <a:solidFill>
                  <a:srgbClr val="22201D"/>
                </a:solidFill>
                <a:latin typeface="Calibri" pitchFamily="34" charset="0"/>
                <a:ea typeface="Calibri" pitchFamily="34" charset="-122"/>
                <a:cs typeface="Calibri" pitchFamily="34" charset="-120"/>
              </a:rPr>
              <a:t>y una regla de separabilidad: si cae una pieza, no arrastra el pliego entero.</a:t>
            </a:r>
            <a:endParaRPr lang="en-US" sz="1700" dirty="0"/>
          </a:p>
        </p:txBody>
      </p:sp>
      <p:sp>
        <p:nvSpPr>
          <p:cNvPr id="7" name="Text 5"/>
          <p:cNvSpPr/>
          <p:nvPr/>
        </p:nvSpPr>
        <p:spPr>
          <a:xfrm>
            <a:off x="822960" y="5989320"/>
            <a:ext cx="10515600" cy="548640"/>
          </a:xfrm>
          <a:prstGeom prst="rect">
            <a:avLst/>
          </a:prstGeom>
          <a:noFill/>
          <a:ln/>
        </p:spPr>
        <p:txBody>
          <a:bodyPr wrap="square" rtlCol="0" anchor="ctr"/>
          <a:lstStyle/>
          <a:p>
            <a:pPr indent="0" marL="0">
              <a:buNone/>
            </a:pPr>
            <a:r>
              <a:rPr lang="en-US" sz="1400" i="1" dirty="0">
                <a:solidFill>
                  <a:srgbClr val="6E6A63"/>
                </a:solidFill>
                <a:latin typeface="Calibri" pitchFamily="34" charset="0"/>
                <a:ea typeface="Calibri" pitchFamily="34" charset="-122"/>
                <a:cs typeface="Calibri" pitchFamily="34" charset="-120"/>
              </a:rPr>
              <a:t>Prometer que algo es inanulable destruye su credibilidad ante quien tiene que firmarlo.</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02920"/>
            <a:ext cx="10515600" cy="822960"/>
          </a:xfrm>
          <a:prstGeom prst="rect">
            <a:avLst/>
          </a:prstGeom>
          <a:noFill/>
          <a:ln/>
        </p:spPr>
        <p:txBody>
          <a:bodyPr wrap="square" rtlCol="0" anchor="ctr"/>
          <a:lstStyle/>
          <a:p>
            <a:pPr indent="0" marL="0">
              <a:buNone/>
            </a:pPr>
            <a:r>
              <a:rPr lang="en-US" sz="3600" b="1" dirty="0">
                <a:solidFill>
                  <a:srgbClr val="1F3864"/>
                </a:solidFill>
                <a:latin typeface="Georgia" pitchFamily="34" charset="0"/>
                <a:ea typeface="Georgia" pitchFamily="34" charset="-122"/>
                <a:cs typeface="Georgia" pitchFamily="34" charset="-120"/>
              </a:rPr>
              <a:t>De dónde sale: un problema real y cuatro dificultades</a:t>
            </a:r>
            <a:endParaRPr lang="en-US" sz="3600" dirty="0"/>
          </a:p>
        </p:txBody>
      </p:sp>
      <p:sp>
        <p:nvSpPr>
          <p:cNvPr id="3" name="Text 1"/>
          <p:cNvSpPr/>
          <p:nvPr/>
        </p:nvSpPr>
        <p:spPr>
          <a:xfrm>
            <a:off x="822960" y="1417320"/>
            <a:ext cx="10515600" cy="822960"/>
          </a:xfrm>
          <a:prstGeom prst="rect">
            <a:avLst/>
          </a:prstGeom>
          <a:noFill/>
          <a:ln/>
        </p:spPr>
        <p:txBody>
          <a:bodyPr wrap="square" rtlCol="0" anchor="ctr"/>
          <a:lstStyle/>
          <a:p>
            <a:pPr indent="0" marL="0">
              <a:buNone/>
            </a:pPr>
            <a:r>
              <a:rPr lang="en-US" sz="1750" dirty="0">
                <a:solidFill>
                  <a:srgbClr val="22201D"/>
                </a:solidFill>
                <a:latin typeface="Calibri" pitchFamily="34" charset="0"/>
                <a:ea typeface="Calibri" pitchFamily="34" charset="-122"/>
                <a:cs typeface="Calibri" pitchFamily="34" charset="-120"/>
              </a:rPr>
              <a:t>El clausulado nació en 2026 de un problema real de gestión dentro de una entidad local. Su memoria empieza nombrando, sin suavizarlas, las cuatro dificultades que quienes lo han trabajado han observado que suceden en la contratación pública.</a:t>
            </a:r>
            <a:endParaRPr lang="en-US" sz="1750" dirty="0"/>
          </a:p>
        </p:txBody>
      </p:sp>
      <p:sp>
        <p:nvSpPr>
          <p:cNvPr id="4" name="Shape 2"/>
          <p:cNvSpPr/>
          <p:nvPr/>
        </p:nvSpPr>
        <p:spPr>
          <a:xfrm>
            <a:off x="822960" y="2240280"/>
            <a:ext cx="10515600" cy="841248"/>
          </a:xfrm>
          <a:prstGeom prst="roundRect">
            <a:avLst>
              <a:gd name="adj" fmla="val 10870"/>
            </a:avLst>
          </a:prstGeom>
          <a:solidFill>
            <a:srgbClr val="EDF1F8"/>
          </a:solidFill>
          <a:ln/>
        </p:spPr>
      </p:sp>
      <p:sp>
        <p:nvSpPr>
          <p:cNvPr id="5" name="Text 3"/>
          <p:cNvSpPr/>
          <p:nvPr/>
        </p:nvSpPr>
        <p:spPr>
          <a:xfrm>
            <a:off x="1051560" y="2295144"/>
            <a:ext cx="2834640" cy="731520"/>
          </a:xfrm>
          <a:prstGeom prst="rect">
            <a:avLst/>
          </a:prstGeom>
          <a:noFill/>
          <a:ln/>
        </p:spPr>
        <p:txBody>
          <a:bodyPr wrap="square" rtlCol="0" anchor="ctr"/>
          <a:lstStyle/>
          <a:p>
            <a:pPr indent="0" marL="0">
              <a:buNone/>
            </a:pPr>
            <a:r>
              <a:rPr lang="en-US" sz="1450" b="1" dirty="0">
                <a:solidFill>
                  <a:srgbClr val="1F3864"/>
                </a:solidFill>
                <a:latin typeface="Georgia" pitchFamily="34" charset="0"/>
                <a:ea typeface="Georgia" pitchFamily="34" charset="-122"/>
                <a:cs typeface="Georgia" pitchFamily="34" charset="-120"/>
              </a:rPr>
              <a:t>La necesidad no la demanda aún el gestor</a:t>
            </a:r>
            <a:endParaRPr lang="en-US" sz="1450" dirty="0"/>
          </a:p>
        </p:txBody>
      </p:sp>
      <p:sp>
        <p:nvSpPr>
          <p:cNvPr id="6" name="Text 4"/>
          <p:cNvSpPr/>
          <p:nvPr/>
        </p:nvSpPr>
        <p:spPr>
          <a:xfrm>
            <a:off x="4023360" y="2295144"/>
            <a:ext cx="7132320" cy="731520"/>
          </a:xfrm>
          <a:prstGeom prst="rect">
            <a:avLst/>
          </a:prstGeom>
          <a:noFill/>
          <a:ln/>
        </p:spPr>
        <p:txBody>
          <a:bodyPr wrap="square" rtlCol="0" anchor="ctr"/>
          <a:lstStyle/>
          <a:p>
            <a:pPr indent="0" marL="0">
              <a:buNone/>
            </a:pPr>
            <a:r>
              <a:rPr lang="en-US" sz="1200" dirty="0">
                <a:solidFill>
                  <a:srgbClr val="22201D"/>
                </a:solidFill>
                <a:latin typeface="Calibri" pitchFamily="34" charset="0"/>
                <a:ea typeface="Calibri" pitchFamily="34" charset="-122"/>
                <a:cs typeface="Calibri" pitchFamily="34" charset="-120"/>
              </a:rPr>
              <a:t>Cada cláusula lleva el origen de su necesidad: una norma, el servicio gestor, o un acuerdo del órgano de gobierno. Lo que no tiene ninguno de los tres, no entra.</a:t>
            </a:r>
            <a:endParaRPr lang="en-US" sz="1200" dirty="0"/>
          </a:p>
        </p:txBody>
      </p:sp>
      <p:sp>
        <p:nvSpPr>
          <p:cNvPr id="7" name="Shape 5"/>
          <p:cNvSpPr/>
          <p:nvPr/>
        </p:nvSpPr>
        <p:spPr>
          <a:xfrm>
            <a:off x="822960" y="3172968"/>
            <a:ext cx="10515600" cy="841248"/>
          </a:xfrm>
          <a:prstGeom prst="roundRect">
            <a:avLst>
              <a:gd name="adj" fmla="val 10870"/>
            </a:avLst>
          </a:prstGeom>
          <a:solidFill>
            <a:srgbClr val="FFFFFF"/>
          </a:solidFill>
          <a:ln/>
        </p:spPr>
      </p:sp>
      <p:sp>
        <p:nvSpPr>
          <p:cNvPr id="8" name="Text 6"/>
          <p:cNvSpPr/>
          <p:nvPr/>
        </p:nvSpPr>
        <p:spPr>
          <a:xfrm>
            <a:off x="1051560" y="3227832"/>
            <a:ext cx="2834640" cy="731520"/>
          </a:xfrm>
          <a:prstGeom prst="rect">
            <a:avLst/>
          </a:prstGeom>
          <a:noFill/>
          <a:ln/>
        </p:spPr>
        <p:txBody>
          <a:bodyPr wrap="square" rtlCol="0" anchor="ctr"/>
          <a:lstStyle/>
          <a:p>
            <a:pPr indent="0" marL="0">
              <a:buNone/>
            </a:pPr>
            <a:r>
              <a:rPr lang="en-US" sz="1450" b="1" dirty="0">
                <a:solidFill>
                  <a:srgbClr val="1F3864"/>
                </a:solidFill>
                <a:latin typeface="Georgia" pitchFamily="34" charset="0"/>
                <a:ea typeface="Georgia" pitchFamily="34" charset="-122"/>
                <a:cs typeface="Georgia" pitchFamily="34" charset="-120"/>
              </a:rPr>
              <a:t>El seguimiento real es escaso, y sólo mira el gasto</a:t>
            </a:r>
            <a:endParaRPr lang="en-US" sz="1450" dirty="0"/>
          </a:p>
        </p:txBody>
      </p:sp>
      <p:sp>
        <p:nvSpPr>
          <p:cNvPr id="9" name="Text 7"/>
          <p:cNvSpPr/>
          <p:nvPr/>
        </p:nvSpPr>
        <p:spPr>
          <a:xfrm>
            <a:off x="4023360" y="3227832"/>
            <a:ext cx="7132320" cy="731520"/>
          </a:xfrm>
          <a:prstGeom prst="rect">
            <a:avLst/>
          </a:prstGeom>
          <a:noFill/>
          <a:ln/>
        </p:spPr>
        <p:txBody>
          <a:bodyPr wrap="square" rtlCol="0" anchor="ctr"/>
          <a:lstStyle/>
          <a:p>
            <a:pPr indent="0" marL="0">
              <a:buNone/>
            </a:pPr>
            <a:r>
              <a:rPr lang="en-US" sz="1200" dirty="0">
                <a:solidFill>
                  <a:srgbClr val="22201D"/>
                </a:solidFill>
                <a:latin typeface="Calibri" pitchFamily="34" charset="0"/>
                <a:ea typeface="Calibri" pitchFamily="34" charset="-122"/>
                <a:cs typeface="Calibri" pitchFamily="34" charset="-120"/>
              </a:rPr>
              <a:t>Quien controla no puede imponer instrumentos, pero sí necesita acceso propio al dato de ejecución, sin depender del proveedor. De ahí ADM-12: sin tarificar, en formato abierto y con diccionario de datos.</a:t>
            </a:r>
            <a:endParaRPr lang="en-US" sz="1200" dirty="0"/>
          </a:p>
        </p:txBody>
      </p:sp>
      <p:sp>
        <p:nvSpPr>
          <p:cNvPr id="10" name="Shape 8"/>
          <p:cNvSpPr/>
          <p:nvPr/>
        </p:nvSpPr>
        <p:spPr>
          <a:xfrm>
            <a:off x="822960" y="4105656"/>
            <a:ext cx="10515600" cy="841248"/>
          </a:xfrm>
          <a:prstGeom prst="roundRect">
            <a:avLst>
              <a:gd name="adj" fmla="val 10870"/>
            </a:avLst>
          </a:prstGeom>
          <a:solidFill>
            <a:srgbClr val="EDF1F8"/>
          </a:solidFill>
          <a:ln/>
        </p:spPr>
      </p:sp>
      <p:sp>
        <p:nvSpPr>
          <p:cNvPr id="11" name="Text 9"/>
          <p:cNvSpPr/>
          <p:nvPr/>
        </p:nvSpPr>
        <p:spPr>
          <a:xfrm>
            <a:off x="1051560" y="4160520"/>
            <a:ext cx="2834640" cy="731520"/>
          </a:xfrm>
          <a:prstGeom prst="rect">
            <a:avLst/>
          </a:prstGeom>
          <a:noFill/>
          <a:ln/>
        </p:spPr>
        <p:txBody>
          <a:bodyPr wrap="square" rtlCol="0" anchor="ctr"/>
          <a:lstStyle/>
          <a:p>
            <a:pPr indent="0" marL="0">
              <a:buNone/>
            </a:pPr>
            <a:r>
              <a:rPr lang="en-US" sz="1450" b="1" dirty="0">
                <a:solidFill>
                  <a:srgbClr val="1F3864"/>
                </a:solidFill>
                <a:latin typeface="Georgia" pitchFamily="34" charset="0"/>
                <a:ea typeface="Georgia" pitchFamily="34" charset="-122"/>
                <a:cs typeface="Georgia" pitchFamily="34" charset="-120"/>
              </a:rPr>
              <a:t>El grado de abstracción es demasiado alto</a:t>
            </a:r>
            <a:endParaRPr lang="en-US" sz="1450" dirty="0"/>
          </a:p>
        </p:txBody>
      </p:sp>
      <p:sp>
        <p:nvSpPr>
          <p:cNvPr id="12" name="Text 10"/>
          <p:cNvSpPr/>
          <p:nvPr/>
        </p:nvSpPr>
        <p:spPr>
          <a:xfrm>
            <a:off x="4023360" y="4160520"/>
            <a:ext cx="7132320" cy="731520"/>
          </a:xfrm>
          <a:prstGeom prst="rect">
            <a:avLst/>
          </a:prstGeom>
          <a:noFill/>
          <a:ln/>
        </p:spPr>
        <p:txBody>
          <a:bodyPr wrap="square" rtlCol="0" anchor="ctr"/>
          <a:lstStyle/>
          <a:p>
            <a:pPr indent="0" marL="0">
              <a:buNone/>
            </a:pPr>
            <a:r>
              <a:rPr lang="en-US" sz="1200" dirty="0">
                <a:solidFill>
                  <a:srgbClr val="22201D"/>
                </a:solidFill>
                <a:latin typeface="Calibri" pitchFamily="34" charset="0"/>
                <a:ea typeface="Calibri" pitchFamily="34" charset="-122"/>
                <a:cs typeface="Calibri" pitchFamily="34" charset="-120"/>
              </a:rPr>
              <a:t>Método para elegir el contrato piloto, y un subconjunto mínimo de seis cláusulas para empezar. El catálogo entero no entra en el primer expediente.</a:t>
            </a:r>
            <a:endParaRPr lang="en-US" sz="1200" dirty="0"/>
          </a:p>
        </p:txBody>
      </p:sp>
      <p:sp>
        <p:nvSpPr>
          <p:cNvPr id="13" name="Shape 11"/>
          <p:cNvSpPr/>
          <p:nvPr/>
        </p:nvSpPr>
        <p:spPr>
          <a:xfrm>
            <a:off x="822960" y="5038344"/>
            <a:ext cx="10515600" cy="841248"/>
          </a:xfrm>
          <a:prstGeom prst="roundRect">
            <a:avLst>
              <a:gd name="adj" fmla="val 10870"/>
            </a:avLst>
          </a:prstGeom>
          <a:solidFill>
            <a:srgbClr val="FFFFFF"/>
          </a:solidFill>
          <a:ln/>
        </p:spPr>
      </p:sp>
      <p:sp>
        <p:nvSpPr>
          <p:cNvPr id="14" name="Text 12"/>
          <p:cNvSpPr/>
          <p:nvPr/>
        </p:nvSpPr>
        <p:spPr>
          <a:xfrm>
            <a:off x="1051560" y="5093208"/>
            <a:ext cx="2834640" cy="731520"/>
          </a:xfrm>
          <a:prstGeom prst="rect">
            <a:avLst/>
          </a:prstGeom>
          <a:noFill/>
          <a:ln/>
        </p:spPr>
        <p:txBody>
          <a:bodyPr wrap="square" rtlCol="0" anchor="ctr"/>
          <a:lstStyle/>
          <a:p>
            <a:pPr indent="0" marL="0">
              <a:buNone/>
            </a:pPr>
            <a:r>
              <a:rPr lang="en-US" sz="1450" b="1" dirty="0">
                <a:solidFill>
                  <a:srgbClr val="1F3864"/>
                </a:solidFill>
                <a:latin typeface="Georgia" pitchFamily="34" charset="0"/>
                <a:ea typeface="Georgia" pitchFamily="34" charset="-122"/>
                <a:cs typeface="Georgia" pitchFamily="34" charset="-120"/>
              </a:rPr>
              <a:t>Hay actores, y no sólo propios, que no lo han visto</a:t>
            </a:r>
            <a:endParaRPr lang="en-US" sz="1450" dirty="0"/>
          </a:p>
        </p:txBody>
      </p:sp>
      <p:sp>
        <p:nvSpPr>
          <p:cNvPr id="15" name="Text 13"/>
          <p:cNvSpPr/>
          <p:nvPr/>
        </p:nvSpPr>
        <p:spPr>
          <a:xfrm>
            <a:off x="4023360" y="5093208"/>
            <a:ext cx="7132320" cy="731520"/>
          </a:xfrm>
          <a:prstGeom prst="rect">
            <a:avLst/>
          </a:prstGeom>
          <a:noFill/>
          <a:ln/>
        </p:spPr>
        <p:txBody>
          <a:bodyPr wrap="square" rtlCol="0" anchor="ctr"/>
          <a:lstStyle/>
          <a:p>
            <a:pPr indent="0" marL="0">
              <a:buNone/>
            </a:pPr>
            <a:r>
              <a:rPr lang="en-US" sz="1200" dirty="0">
                <a:solidFill>
                  <a:srgbClr val="22201D"/>
                </a:solidFill>
                <a:latin typeface="Calibri" pitchFamily="34" charset="0"/>
                <a:ea typeface="Calibri" pitchFamily="34" charset="-122"/>
                <a:cs typeface="Calibri" pitchFamily="34" charset="-120"/>
              </a:rPr>
              <a:t>Consulta preliminar anual, publicación del Anexo V antes de licitar, plazo por encima del mínimo y gradualidad. Si el mercado no puede cumplirlo, la exigencia no entra en el pliego.</a:t>
            </a:r>
            <a:endParaRPr lang="en-US" sz="1200" dirty="0"/>
          </a:p>
        </p:txBody>
      </p:sp>
      <p:sp>
        <p:nvSpPr>
          <p:cNvPr id="16" name="Text 14"/>
          <p:cNvSpPr/>
          <p:nvPr/>
        </p:nvSpPr>
        <p:spPr>
          <a:xfrm>
            <a:off x="822960" y="5989320"/>
            <a:ext cx="10515600" cy="548640"/>
          </a:xfrm>
          <a:prstGeom prst="rect">
            <a:avLst/>
          </a:prstGeom>
          <a:noFill/>
          <a:ln/>
        </p:spPr>
        <p:txBody>
          <a:bodyPr wrap="square" rtlCol="0" anchor="ctr"/>
          <a:lstStyle/>
          <a:p>
            <a:pPr indent="0" marL="0">
              <a:buNone/>
            </a:pPr>
            <a:r>
              <a:rPr lang="en-US" sz="1400" i="1" dirty="0">
                <a:solidFill>
                  <a:srgbClr val="6E6A63"/>
                </a:solidFill>
                <a:latin typeface="Calibri" pitchFamily="34" charset="0"/>
                <a:ea typeface="Calibri" pitchFamily="34" charset="-122"/>
                <a:cs typeface="Calibri" pitchFamily="34" charset="-120"/>
              </a:rPr>
              <a:t>Las cuatro se responden dentro del documento, no en una nota al pie: han cambiado su arquitectura, no su prólogo.</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02920"/>
            <a:ext cx="10515600" cy="822960"/>
          </a:xfrm>
          <a:prstGeom prst="rect">
            <a:avLst/>
          </a:prstGeom>
          <a:noFill/>
          <a:ln/>
        </p:spPr>
        <p:txBody>
          <a:bodyPr wrap="square" rtlCol="0" anchor="ctr"/>
          <a:lstStyle/>
          <a:p>
            <a:pPr indent="0" marL="0">
              <a:buNone/>
            </a:pPr>
            <a:r>
              <a:rPr lang="en-US" sz="3600" b="1" dirty="0">
                <a:solidFill>
                  <a:srgbClr val="1F3864"/>
                </a:solidFill>
                <a:latin typeface="Georgia" pitchFamily="34" charset="0"/>
                <a:ea typeface="Georgia" pitchFamily="34" charset="-122"/>
                <a:cs typeface="Georgia" pitchFamily="34" charset="-120"/>
              </a:rPr>
              <a:t>Qué es, y qué no es</a:t>
            </a:r>
            <a:endParaRPr lang="en-US" sz="3600" dirty="0"/>
          </a:p>
        </p:txBody>
      </p:sp>
      <p:sp>
        <p:nvSpPr>
          <p:cNvPr id="3" name="Shape 1"/>
          <p:cNvSpPr/>
          <p:nvPr/>
        </p:nvSpPr>
        <p:spPr>
          <a:xfrm>
            <a:off x="822960" y="1645920"/>
            <a:ext cx="5120640" cy="3840480"/>
          </a:xfrm>
          <a:prstGeom prst="roundRect">
            <a:avLst>
              <a:gd name="adj" fmla="val 2381"/>
            </a:avLst>
          </a:prstGeom>
          <a:solidFill>
            <a:srgbClr val="EFF5F0"/>
          </a:solidFill>
          <a:ln/>
        </p:spPr>
      </p:sp>
      <p:sp>
        <p:nvSpPr>
          <p:cNvPr id="4" name="Text 2"/>
          <p:cNvSpPr/>
          <p:nvPr/>
        </p:nvSpPr>
        <p:spPr>
          <a:xfrm>
            <a:off x="1143000" y="1874520"/>
            <a:ext cx="4480560" cy="457200"/>
          </a:xfrm>
          <a:prstGeom prst="rect">
            <a:avLst/>
          </a:prstGeom>
          <a:noFill/>
          <a:ln/>
        </p:spPr>
        <p:txBody>
          <a:bodyPr wrap="square" rtlCol="0" anchor="ctr"/>
          <a:lstStyle/>
          <a:p>
            <a:pPr indent="0" marL="0">
              <a:buNone/>
            </a:pPr>
            <a:r>
              <a:rPr lang="en-US" sz="1400" b="1" spc="300" kern="0" dirty="0">
                <a:solidFill>
                  <a:srgbClr val="2E6B3E"/>
                </a:solidFill>
                <a:latin typeface="Calibri" pitchFamily="34" charset="0"/>
                <a:ea typeface="Calibri" pitchFamily="34" charset="-122"/>
                <a:cs typeface="Calibri" pitchFamily="34" charset="-120"/>
              </a:rPr>
              <a:t>ES</a:t>
            </a:r>
            <a:endParaRPr lang="en-US" sz="1400" dirty="0"/>
          </a:p>
        </p:txBody>
      </p:sp>
      <p:sp>
        <p:nvSpPr>
          <p:cNvPr id="5" name="Text 3"/>
          <p:cNvSpPr/>
          <p:nvPr/>
        </p:nvSpPr>
        <p:spPr>
          <a:xfrm>
            <a:off x="1143000" y="2377440"/>
            <a:ext cx="4480560" cy="2926080"/>
          </a:xfrm>
          <a:prstGeom prst="rect">
            <a:avLst/>
          </a:prstGeom>
          <a:noFill/>
          <a:ln/>
        </p:spPr>
        <p:txBody>
          <a:bodyPr wrap="square" rtlCol="0" anchor="ctr"/>
          <a:lstStyle/>
          <a:p>
            <a:pPr indent="0" marL="0">
              <a:buNone/>
            </a:pPr>
            <a:r>
              <a:rPr lang="en-US" sz="1600" dirty="0">
                <a:solidFill>
                  <a:srgbClr val="22201D"/>
                </a:solidFill>
                <a:latin typeface="Calibri" pitchFamily="34" charset="0"/>
                <a:ea typeface="Calibri" pitchFamily="34" charset="-122"/>
                <a:cs typeface="Calibri" pitchFamily="34" charset="-120"/>
              </a:rPr>
              <a:t>Un catálogo de cláusulas ya redactadas, con su justificación y su medio de prueba.
</a:t>
            </a:r>
            <a:pPr indent="0" marL="0">
              <a:buNone/>
            </a:pPr>
            <a:r>
              <a:rPr lang="en-US" sz="1600" dirty="0">
                <a:solidFill>
                  <a:srgbClr val="22201D"/>
                </a:solidFill>
                <a:latin typeface="Calibri" pitchFamily="34" charset="0"/>
                <a:ea typeface="Calibri" pitchFamily="34" charset="-122"/>
                <a:cs typeface="Calibri" pitchFamily="34" charset="-120"/>
              </a:rPr>
              <a:t>Un manual de expediente: qué documento hace falta, quién lo firma y en qué orden.
</a:t>
            </a:r>
            <a:pPr indent="0" marL="0">
              <a:buNone/>
            </a:pPr>
            <a:r>
              <a:rPr lang="en-US" sz="1600" dirty="0">
                <a:solidFill>
                  <a:srgbClr val="22201D"/>
                </a:solidFill>
                <a:latin typeface="Calibri" pitchFamily="34" charset="0"/>
                <a:ea typeface="Calibri" pitchFamily="34" charset="-122"/>
                <a:cs typeface="Calibri" pitchFamily="34" charset="-120"/>
              </a:rPr>
              <a:t>Un ejemplo completo trabajado, de principio a fin, sobre un expediente simulado.</a:t>
            </a:r>
            <a:endParaRPr lang="en-US" sz="1600" dirty="0"/>
          </a:p>
        </p:txBody>
      </p:sp>
      <p:sp>
        <p:nvSpPr>
          <p:cNvPr id="6" name="Shape 4"/>
          <p:cNvSpPr/>
          <p:nvPr/>
        </p:nvSpPr>
        <p:spPr>
          <a:xfrm>
            <a:off x="6217920" y="1645920"/>
            <a:ext cx="5120640" cy="3840480"/>
          </a:xfrm>
          <a:prstGeom prst="roundRect">
            <a:avLst>
              <a:gd name="adj" fmla="val 2381"/>
            </a:avLst>
          </a:prstGeom>
          <a:solidFill>
            <a:srgbClr val="FBEEEC"/>
          </a:solidFill>
          <a:ln/>
        </p:spPr>
      </p:sp>
      <p:sp>
        <p:nvSpPr>
          <p:cNvPr id="7" name="Text 5"/>
          <p:cNvSpPr/>
          <p:nvPr/>
        </p:nvSpPr>
        <p:spPr>
          <a:xfrm>
            <a:off x="6537960" y="1874520"/>
            <a:ext cx="4480560" cy="457200"/>
          </a:xfrm>
          <a:prstGeom prst="rect">
            <a:avLst/>
          </a:prstGeom>
          <a:noFill/>
          <a:ln/>
        </p:spPr>
        <p:txBody>
          <a:bodyPr wrap="square" rtlCol="0" anchor="ctr"/>
          <a:lstStyle/>
          <a:p>
            <a:pPr indent="0" marL="0">
              <a:buNone/>
            </a:pPr>
            <a:r>
              <a:rPr lang="en-US" sz="1400" b="1" spc="300" kern="0" dirty="0">
                <a:solidFill>
                  <a:srgbClr val="9A3324"/>
                </a:solidFill>
                <a:latin typeface="Calibri" pitchFamily="34" charset="0"/>
                <a:ea typeface="Calibri" pitchFamily="34" charset="-122"/>
                <a:cs typeface="Calibri" pitchFamily="34" charset="-120"/>
              </a:rPr>
              <a:t>NO ES</a:t>
            </a:r>
            <a:endParaRPr lang="en-US" sz="1400" dirty="0"/>
          </a:p>
        </p:txBody>
      </p:sp>
      <p:sp>
        <p:nvSpPr>
          <p:cNvPr id="8" name="Text 6"/>
          <p:cNvSpPr/>
          <p:nvPr/>
        </p:nvSpPr>
        <p:spPr>
          <a:xfrm>
            <a:off x="6537960" y="2377440"/>
            <a:ext cx="4480560" cy="2926080"/>
          </a:xfrm>
          <a:prstGeom prst="rect">
            <a:avLst/>
          </a:prstGeom>
          <a:noFill/>
          <a:ln/>
        </p:spPr>
        <p:txBody>
          <a:bodyPr wrap="square" rtlCol="0" anchor="ctr"/>
          <a:lstStyle/>
          <a:p>
            <a:pPr indent="0" marL="0">
              <a:buNone/>
            </a:pPr>
            <a:r>
              <a:rPr lang="en-US" sz="1600" dirty="0">
                <a:solidFill>
                  <a:srgbClr val="22201D"/>
                </a:solidFill>
                <a:latin typeface="Calibri" pitchFamily="34" charset="0"/>
                <a:ea typeface="Calibri" pitchFamily="34" charset="-122"/>
                <a:cs typeface="Calibri" pitchFamily="34" charset="-120"/>
              </a:rPr>
              <a:t>Una norma. No obliga a nadie por sí mismo.
</a:t>
            </a:r>
            <a:pPr indent="0" marL="0">
              <a:buNone/>
            </a:pPr>
            <a:r>
              <a:rPr lang="en-US" sz="1600" dirty="0">
                <a:solidFill>
                  <a:srgbClr val="22201D"/>
                </a:solidFill>
                <a:latin typeface="Calibri" pitchFamily="34" charset="0"/>
                <a:ea typeface="Calibri" pitchFamily="34" charset="-122"/>
                <a:cs typeface="Calibri" pitchFamily="34" charset="-120"/>
              </a:rPr>
              <a:t>De aplicación automática. Ninguna cláusula entra en un pliego por existir aquí.
</a:t>
            </a:r>
            <a:pPr indent="0" marL="0">
              <a:buNone/>
            </a:pPr>
            <a:r>
              <a:rPr lang="en-US" sz="1600" dirty="0">
                <a:solidFill>
                  <a:srgbClr val="22201D"/>
                </a:solidFill>
                <a:latin typeface="Calibri" pitchFamily="34" charset="0"/>
                <a:ea typeface="Calibri" pitchFamily="34" charset="-122"/>
                <a:cs typeface="Calibri" pitchFamily="34" charset="-120"/>
              </a:rPr>
              <a:t>Un «copia y pega». Una cláusula sin necesidad acreditada no protege: añade un motivo de recurso.</a:t>
            </a:r>
            <a:endParaRPr lang="en-US" sz="1600" dirty="0"/>
          </a:p>
        </p:txBody>
      </p:sp>
      <p:sp>
        <p:nvSpPr>
          <p:cNvPr id="9" name="Text 7"/>
          <p:cNvSpPr/>
          <p:nvPr/>
        </p:nvSpPr>
        <p:spPr>
          <a:xfrm>
            <a:off x="822960" y="5989320"/>
            <a:ext cx="10515600" cy="548640"/>
          </a:xfrm>
          <a:prstGeom prst="rect">
            <a:avLst/>
          </a:prstGeom>
          <a:noFill/>
          <a:ln/>
        </p:spPr>
        <p:txBody>
          <a:bodyPr wrap="square" rtlCol="0" anchor="ctr"/>
          <a:lstStyle/>
          <a:p>
            <a:pPr indent="0" marL="0">
              <a:buNone/>
            </a:pPr>
            <a:r>
              <a:rPr lang="en-US" sz="1400" i="1" dirty="0">
                <a:solidFill>
                  <a:srgbClr val="6E6A63"/>
                </a:solidFill>
                <a:latin typeface="Calibri" pitchFamily="34" charset="0"/>
                <a:ea typeface="Calibri" pitchFamily="34" charset="-122"/>
                <a:cs typeface="Calibri" pitchFamily="34" charset="-120"/>
              </a:rPr>
              <a:t>Se toma lo que cada expediente necesita, y se justifica. Ésa es toda la regla de uso.</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02920"/>
            <a:ext cx="10515600" cy="822960"/>
          </a:xfrm>
          <a:prstGeom prst="rect">
            <a:avLst/>
          </a:prstGeom>
          <a:noFill/>
          <a:ln/>
        </p:spPr>
        <p:txBody>
          <a:bodyPr wrap="square" rtlCol="0" anchor="ctr"/>
          <a:lstStyle/>
          <a:p>
            <a:pPr indent="0" marL="0">
              <a:buNone/>
            </a:pPr>
            <a:r>
              <a:rPr lang="en-US" sz="3600" b="1" dirty="0">
                <a:solidFill>
                  <a:srgbClr val="1F3864"/>
                </a:solidFill>
                <a:latin typeface="Georgia" pitchFamily="34" charset="0"/>
                <a:ea typeface="Georgia" pitchFamily="34" charset="-122"/>
                <a:cs typeface="Georgia" pitchFamily="34" charset="-120"/>
              </a:rPr>
              <a:t>Qué hay publicado, y para quién</a:t>
            </a:r>
            <a:endParaRPr lang="en-US" sz="3600" dirty="0"/>
          </a:p>
        </p:txBody>
      </p:sp>
      <p:sp>
        <p:nvSpPr>
          <p:cNvPr id="3" name="Shape 1"/>
          <p:cNvSpPr/>
          <p:nvPr/>
        </p:nvSpPr>
        <p:spPr>
          <a:xfrm>
            <a:off x="822960" y="1371600"/>
            <a:ext cx="10515600" cy="822960"/>
          </a:xfrm>
          <a:prstGeom prst="roundRect">
            <a:avLst>
              <a:gd name="adj" fmla="val 11111"/>
            </a:avLst>
          </a:prstGeom>
          <a:solidFill>
            <a:srgbClr val="EDF1F8"/>
          </a:solidFill>
          <a:ln/>
        </p:spPr>
      </p:sp>
      <p:sp>
        <p:nvSpPr>
          <p:cNvPr id="4" name="Text 2"/>
          <p:cNvSpPr/>
          <p:nvPr/>
        </p:nvSpPr>
        <p:spPr>
          <a:xfrm>
            <a:off x="1097280" y="1444752"/>
            <a:ext cx="3108960" cy="676656"/>
          </a:xfrm>
          <a:prstGeom prst="rect">
            <a:avLst/>
          </a:prstGeom>
          <a:noFill/>
          <a:ln/>
        </p:spPr>
        <p:txBody>
          <a:bodyPr wrap="square" rtlCol="0" anchor="ctr"/>
          <a:lstStyle/>
          <a:p>
            <a:pPr indent="0" marL="0">
              <a:buNone/>
            </a:pPr>
            <a:r>
              <a:rPr lang="en-US" sz="1500" b="1" dirty="0">
                <a:solidFill>
                  <a:srgbClr val="1F3864"/>
                </a:solidFill>
                <a:latin typeface="Georgia" pitchFamily="34" charset="0"/>
                <a:ea typeface="Georgia" pitchFamily="34" charset="-122"/>
                <a:cs typeface="Georgia" pitchFamily="34" charset="-120"/>
              </a:rPr>
              <a:t>El clausulado completo</a:t>
            </a:r>
            <a:endParaRPr lang="en-US" sz="1500" dirty="0"/>
          </a:p>
        </p:txBody>
      </p:sp>
      <p:sp>
        <p:nvSpPr>
          <p:cNvPr id="5" name="Text 3"/>
          <p:cNvSpPr/>
          <p:nvPr/>
        </p:nvSpPr>
        <p:spPr>
          <a:xfrm>
            <a:off x="4297680" y="1444752"/>
            <a:ext cx="4937760" cy="676656"/>
          </a:xfrm>
          <a:prstGeom prst="rect">
            <a:avLst/>
          </a:prstGeom>
          <a:noFill/>
          <a:ln/>
        </p:spPr>
        <p:txBody>
          <a:bodyPr wrap="square" rtlCol="0" anchor="ctr"/>
          <a:lstStyle/>
          <a:p>
            <a:pPr indent="0" marL="0">
              <a:buNone/>
            </a:pPr>
            <a:r>
              <a:rPr lang="en-US" sz="1160" dirty="0">
                <a:solidFill>
                  <a:srgbClr val="22201D"/>
                </a:solidFill>
                <a:latin typeface="Calibri" pitchFamily="34" charset="0"/>
                <a:ea typeface="Calibri" pitchFamily="34" charset="-122"/>
                <a:cs typeface="Calibri" pitchFamily="34" charset="-120"/>
              </a:rPr>
              <a:t>Catálogo, memoria justificativa para los órganos de control, circuito del expediente, ejemplo trabajado y anexos con todos los modelos.</a:t>
            </a:r>
            <a:endParaRPr lang="en-US" sz="1160" dirty="0"/>
          </a:p>
        </p:txBody>
      </p:sp>
      <p:sp>
        <p:nvSpPr>
          <p:cNvPr id="6" name="Text 4"/>
          <p:cNvSpPr/>
          <p:nvPr/>
        </p:nvSpPr>
        <p:spPr>
          <a:xfrm>
            <a:off x="9326880" y="1444752"/>
            <a:ext cx="1828800" cy="676656"/>
          </a:xfrm>
          <a:prstGeom prst="rect">
            <a:avLst/>
          </a:prstGeom>
          <a:noFill/>
          <a:ln/>
        </p:spPr>
        <p:txBody>
          <a:bodyPr wrap="square" rtlCol="0" anchor="ctr"/>
          <a:lstStyle/>
          <a:p>
            <a:pPr indent="0" marL="0">
              <a:buNone/>
            </a:pPr>
            <a:r>
              <a:rPr lang="en-US" sz="1050" i="1" dirty="0">
                <a:solidFill>
                  <a:srgbClr val="6E6A63"/>
                </a:solidFill>
                <a:latin typeface="Calibri" pitchFamily="34" charset="0"/>
                <a:ea typeface="Calibri" pitchFamily="34" charset="-122"/>
                <a:cs typeface="Calibri" pitchFamily="34" charset="-120"/>
              </a:rPr>
              <a:t>Quien redacta y quien fiscaliza</a:t>
            </a:r>
            <a:endParaRPr lang="en-US" sz="1050" dirty="0"/>
          </a:p>
        </p:txBody>
      </p:sp>
      <p:sp>
        <p:nvSpPr>
          <p:cNvPr id="7" name="Shape 5"/>
          <p:cNvSpPr/>
          <p:nvPr/>
        </p:nvSpPr>
        <p:spPr>
          <a:xfrm>
            <a:off x="822960" y="2304288"/>
            <a:ext cx="10515600" cy="822960"/>
          </a:xfrm>
          <a:prstGeom prst="roundRect">
            <a:avLst>
              <a:gd name="adj" fmla="val 11111"/>
            </a:avLst>
          </a:prstGeom>
          <a:solidFill>
            <a:srgbClr val="EDF1F8"/>
          </a:solidFill>
          <a:ln/>
        </p:spPr>
      </p:sp>
      <p:sp>
        <p:nvSpPr>
          <p:cNvPr id="8" name="Text 6"/>
          <p:cNvSpPr/>
          <p:nvPr/>
        </p:nvSpPr>
        <p:spPr>
          <a:xfrm>
            <a:off x="1097280" y="2377440"/>
            <a:ext cx="3108960" cy="676656"/>
          </a:xfrm>
          <a:prstGeom prst="rect">
            <a:avLst/>
          </a:prstGeom>
          <a:noFill/>
          <a:ln/>
        </p:spPr>
        <p:txBody>
          <a:bodyPr wrap="square" rtlCol="0" anchor="ctr"/>
          <a:lstStyle/>
          <a:p>
            <a:pPr indent="0" marL="0">
              <a:buNone/>
            </a:pPr>
            <a:r>
              <a:rPr lang="en-US" sz="1500" b="1" dirty="0">
                <a:solidFill>
                  <a:srgbClr val="1F3864"/>
                </a:solidFill>
                <a:latin typeface="Georgia" pitchFamily="34" charset="0"/>
                <a:ea typeface="Georgia" pitchFamily="34" charset="-122"/>
                <a:cs typeface="Georgia" pitchFamily="34" charset="-120"/>
              </a:rPr>
              <a:t>La guía municipal · 20 páginas</a:t>
            </a:r>
            <a:endParaRPr lang="en-US" sz="1500" dirty="0"/>
          </a:p>
        </p:txBody>
      </p:sp>
      <p:sp>
        <p:nvSpPr>
          <p:cNvPr id="9" name="Text 7"/>
          <p:cNvSpPr/>
          <p:nvPr/>
        </p:nvSpPr>
        <p:spPr>
          <a:xfrm>
            <a:off x="4297680" y="2377440"/>
            <a:ext cx="4937760" cy="676656"/>
          </a:xfrm>
          <a:prstGeom prst="rect">
            <a:avLst/>
          </a:prstGeom>
          <a:noFill/>
          <a:ln/>
        </p:spPr>
        <p:txBody>
          <a:bodyPr wrap="square" rtlCol="0" anchor="ctr"/>
          <a:lstStyle/>
          <a:p>
            <a:pPr indent="0" marL="0">
              <a:buNone/>
            </a:pPr>
            <a:r>
              <a:rPr lang="en-US" sz="1160" dirty="0">
                <a:solidFill>
                  <a:srgbClr val="22201D"/>
                </a:solidFill>
                <a:latin typeface="Calibri" pitchFamily="34" charset="0"/>
                <a:ea typeface="Calibri" pitchFamily="34" charset="-122"/>
                <a:cs typeface="Calibri" pitchFamily="34" charset="-120"/>
              </a:rPr>
              <a:t>Cómo decidir, motivar, seleccionar, copiar y verificar sin recorrer el catálogo entero.</a:t>
            </a:r>
            <a:endParaRPr lang="en-US" sz="1160" dirty="0"/>
          </a:p>
        </p:txBody>
      </p:sp>
      <p:sp>
        <p:nvSpPr>
          <p:cNvPr id="10" name="Text 8"/>
          <p:cNvSpPr/>
          <p:nvPr/>
        </p:nvSpPr>
        <p:spPr>
          <a:xfrm>
            <a:off x="9326880" y="2377440"/>
            <a:ext cx="1828800" cy="676656"/>
          </a:xfrm>
          <a:prstGeom prst="rect">
            <a:avLst/>
          </a:prstGeom>
          <a:noFill/>
          <a:ln/>
        </p:spPr>
        <p:txBody>
          <a:bodyPr wrap="square" rtlCol="0" anchor="ctr"/>
          <a:lstStyle/>
          <a:p>
            <a:pPr indent="0" marL="0">
              <a:buNone/>
            </a:pPr>
            <a:r>
              <a:rPr lang="en-US" sz="1050" i="1" dirty="0">
                <a:solidFill>
                  <a:srgbClr val="6E6A63"/>
                </a:solidFill>
                <a:latin typeface="Calibri" pitchFamily="34" charset="0"/>
                <a:ea typeface="Calibri" pitchFamily="34" charset="-122"/>
                <a:cs typeface="Calibri" pitchFamily="34" charset="-120"/>
              </a:rPr>
              <a:t>Concejalía, Contratación, Intervención y TI</a:t>
            </a:r>
            <a:endParaRPr lang="en-US" sz="1050" dirty="0"/>
          </a:p>
        </p:txBody>
      </p:sp>
      <p:sp>
        <p:nvSpPr>
          <p:cNvPr id="11" name="Shape 9"/>
          <p:cNvSpPr/>
          <p:nvPr/>
        </p:nvSpPr>
        <p:spPr>
          <a:xfrm>
            <a:off x="822960" y="3236976"/>
            <a:ext cx="10515600" cy="822960"/>
          </a:xfrm>
          <a:prstGeom prst="roundRect">
            <a:avLst>
              <a:gd name="adj" fmla="val 11111"/>
            </a:avLst>
          </a:prstGeom>
          <a:solidFill>
            <a:srgbClr val="EDF1F8"/>
          </a:solidFill>
          <a:ln/>
        </p:spPr>
      </p:sp>
      <p:sp>
        <p:nvSpPr>
          <p:cNvPr id="12" name="Text 10"/>
          <p:cNvSpPr/>
          <p:nvPr/>
        </p:nvSpPr>
        <p:spPr>
          <a:xfrm>
            <a:off x="1097280" y="3310128"/>
            <a:ext cx="3108960" cy="676656"/>
          </a:xfrm>
          <a:prstGeom prst="rect">
            <a:avLst/>
          </a:prstGeom>
          <a:noFill/>
          <a:ln/>
        </p:spPr>
        <p:txBody>
          <a:bodyPr wrap="square" rtlCol="0" anchor="ctr"/>
          <a:lstStyle/>
          <a:p>
            <a:pPr indent="0" marL="0">
              <a:buNone/>
            </a:pPr>
            <a:r>
              <a:rPr lang="en-US" sz="1500" b="1" dirty="0">
                <a:solidFill>
                  <a:srgbClr val="1F3864"/>
                </a:solidFill>
                <a:latin typeface="Georgia" pitchFamily="34" charset="0"/>
                <a:ea typeface="Georgia" pitchFamily="34" charset="-122"/>
                <a:cs typeface="Georgia" pitchFamily="34" charset="-120"/>
              </a:rPr>
              <a:t>El resumen y la guía de uso</a:t>
            </a:r>
            <a:endParaRPr lang="en-US" sz="1500" dirty="0"/>
          </a:p>
        </p:txBody>
      </p:sp>
      <p:sp>
        <p:nvSpPr>
          <p:cNvPr id="13" name="Text 11"/>
          <p:cNvSpPr/>
          <p:nvPr/>
        </p:nvSpPr>
        <p:spPr>
          <a:xfrm>
            <a:off x="4297680" y="3310128"/>
            <a:ext cx="4937760" cy="676656"/>
          </a:xfrm>
          <a:prstGeom prst="rect">
            <a:avLst/>
          </a:prstGeom>
          <a:noFill/>
          <a:ln/>
        </p:spPr>
        <p:txBody>
          <a:bodyPr wrap="square" rtlCol="0" anchor="ctr"/>
          <a:lstStyle/>
          <a:p>
            <a:pPr indent="0" marL="0">
              <a:buNone/>
            </a:pPr>
            <a:r>
              <a:rPr lang="en-US" sz="1160" dirty="0">
                <a:solidFill>
                  <a:srgbClr val="22201D"/>
                </a:solidFill>
                <a:latin typeface="Calibri" pitchFamily="34" charset="0"/>
                <a:ea typeface="Calibri" pitchFamily="34" charset="-122"/>
                <a:cs typeface="Calibri" pitchFamily="34" charset="-120"/>
              </a:rPr>
              <a:t>La primera parte del documento, escrita para quien no sabe nada de contratación ni de tecnología.</a:t>
            </a:r>
            <a:endParaRPr lang="en-US" sz="1160" dirty="0"/>
          </a:p>
        </p:txBody>
      </p:sp>
      <p:sp>
        <p:nvSpPr>
          <p:cNvPr id="14" name="Text 12"/>
          <p:cNvSpPr/>
          <p:nvPr/>
        </p:nvSpPr>
        <p:spPr>
          <a:xfrm>
            <a:off x="9326880" y="3310128"/>
            <a:ext cx="1828800" cy="676656"/>
          </a:xfrm>
          <a:prstGeom prst="rect">
            <a:avLst/>
          </a:prstGeom>
          <a:noFill/>
          <a:ln/>
        </p:spPr>
        <p:txBody>
          <a:bodyPr wrap="square" rtlCol="0" anchor="ctr"/>
          <a:lstStyle/>
          <a:p>
            <a:pPr indent="0" marL="0">
              <a:buNone/>
            </a:pPr>
            <a:r>
              <a:rPr lang="en-US" sz="1050" i="1" dirty="0">
                <a:solidFill>
                  <a:srgbClr val="6E6A63"/>
                </a:solidFill>
                <a:latin typeface="Calibri" pitchFamily="34" charset="0"/>
                <a:ea typeface="Calibri" pitchFamily="34" charset="-122"/>
                <a:cs typeface="Calibri" pitchFamily="34" charset="-120"/>
              </a:rPr>
              <a:t>Alcaldía, concejalías, prensa</a:t>
            </a:r>
            <a:endParaRPr lang="en-US" sz="1050" dirty="0"/>
          </a:p>
        </p:txBody>
      </p:sp>
      <p:sp>
        <p:nvSpPr>
          <p:cNvPr id="15" name="Shape 13"/>
          <p:cNvSpPr/>
          <p:nvPr/>
        </p:nvSpPr>
        <p:spPr>
          <a:xfrm>
            <a:off x="822960" y="4169664"/>
            <a:ext cx="10515600" cy="822960"/>
          </a:xfrm>
          <a:prstGeom prst="roundRect">
            <a:avLst>
              <a:gd name="adj" fmla="val 11111"/>
            </a:avLst>
          </a:prstGeom>
          <a:solidFill>
            <a:srgbClr val="EDF1F8"/>
          </a:solidFill>
          <a:ln/>
        </p:spPr>
      </p:sp>
      <p:sp>
        <p:nvSpPr>
          <p:cNvPr id="16" name="Text 14"/>
          <p:cNvSpPr/>
          <p:nvPr/>
        </p:nvSpPr>
        <p:spPr>
          <a:xfrm>
            <a:off x="1097280" y="4242816"/>
            <a:ext cx="3108960" cy="676656"/>
          </a:xfrm>
          <a:prstGeom prst="rect">
            <a:avLst/>
          </a:prstGeom>
          <a:noFill/>
          <a:ln/>
        </p:spPr>
        <p:txBody>
          <a:bodyPr wrap="square" rtlCol="0" anchor="ctr"/>
          <a:lstStyle/>
          <a:p>
            <a:pPr indent="0" marL="0">
              <a:buNone/>
            </a:pPr>
            <a:r>
              <a:rPr lang="en-US" sz="1500" b="1" dirty="0">
                <a:solidFill>
                  <a:srgbClr val="1F3864"/>
                </a:solidFill>
                <a:latin typeface="Georgia" pitchFamily="34" charset="0"/>
                <a:ea typeface="Georgia" pitchFamily="34" charset="-122"/>
                <a:cs typeface="Georgia" pitchFamily="34" charset="-120"/>
              </a:rPr>
              <a:t>Esta presentación</a:t>
            </a:r>
            <a:endParaRPr lang="en-US" sz="1500" dirty="0"/>
          </a:p>
        </p:txBody>
      </p:sp>
      <p:sp>
        <p:nvSpPr>
          <p:cNvPr id="17" name="Text 15"/>
          <p:cNvSpPr/>
          <p:nvPr/>
        </p:nvSpPr>
        <p:spPr>
          <a:xfrm>
            <a:off x="4297680" y="4242816"/>
            <a:ext cx="4937760" cy="676656"/>
          </a:xfrm>
          <a:prstGeom prst="rect">
            <a:avLst/>
          </a:prstGeom>
          <a:noFill/>
          <a:ln/>
        </p:spPr>
        <p:txBody>
          <a:bodyPr wrap="square" rtlCol="0" anchor="ctr"/>
          <a:lstStyle/>
          <a:p>
            <a:pPr indent="0" marL="0">
              <a:buNone/>
            </a:pPr>
            <a:r>
              <a:rPr lang="en-US" sz="1160" dirty="0">
                <a:solidFill>
                  <a:srgbClr val="22201D"/>
                </a:solidFill>
                <a:latin typeface="Calibri" pitchFamily="34" charset="0"/>
                <a:ea typeface="Calibri" pitchFamily="34" charset="-122"/>
                <a:cs typeface="Calibri" pitchFamily="34" charset="-120"/>
              </a:rPr>
              <a:t>El problema y la solución, sin que haga falta saber nada previo.</a:t>
            </a:r>
            <a:endParaRPr lang="en-US" sz="1160" dirty="0"/>
          </a:p>
        </p:txBody>
      </p:sp>
      <p:sp>
        <p:nvSpPr>
          <p:cNvPr id="18" name="Text 16"/>
          <p:cNvSpPr/>
          <p:nvPr/>
        </p:nvSpPr>
        <p:spPr>
          <a:xfrm>
            <a:off x="9326880" y="4242816"/>
            <a:ext cx="1828800" cy="676656"/>
          </a:xfrm>
          <a:prstGeom prst="rect">
            <a:avLst/>
          </a:prstGeom>
          <a:noFill/>
          <a:ln/>
        </p:spPr>
        <p:txBody>
          <a:bodyPr wrap="square" rtlCol="0" anchor="ctr"/>
          <a:lstStyle/>
          <a:p>
            <a:pPr indent="0" marL="0">
              <a:buNone/>
            </a:pPr>
            <a:r>
              <a:rPr lang="en-US" sz="1050" i="1" dirty="0">
                <a:solidFill>
                  <a:srgbClr val="6E6A63"/>
                </a:solidFill>
                <a:latin typeface="Calibri" pitchFamily="34" charset="0"/>
                <a:ea typeface="Calibri" pitchFamily="34" charset="-122"/>
                <a:cs typeface="Calibri" pitchFamily="34" charset="-120"/>
              </a:rPr>
              <a:t>Cualquier sala</a:t>
            </a:r>
            <a:endParaRPr lang="en-US" sz="1050" dirty="0"/>
          </a:p>
        </p:txBody>
      </p:sp>
      <p:sp>
        <p:nvSpPr>
          <p:cNvPr id="19" name="Shape 17"/>
          <p:cNvSpPr/>
          <p:nvPr/>
        </p:nvSpPr>
        <p:spPr>
          <a:xfrm>
            <a:off x="822960" y="5102352"/>
            <a:ext cx="10515600" cy="822960"/>
          </a:xfrm>
          <a:prstGeom prst="roundRect">
            <a:avLst>
              <a:gd name="adj" fmla="val 11111"/>
            </a:avLst>
          </a:prstGeom>
          <a:solidFill>
            <a:srgbClr val="EDF1F8"/>
          </a:solidFill>
          <a:ln/>
        </p:spPr>
      </p:sp>
      <p:sp>
        <p:nvSpPr>
          <p:cNvPr id="20" name="Text 18"/>
          <p:cNvSpPr/>
          <p:nvPr/>
        </p:nvSpPr>
        <p:spPr>
          <a:xfrm>
            <a:off x="1097280" y="5175504"/>
            <a:ext cx="3108960" cy="676656"/>
          </a:xfrm>
          <a:prstGeom prst="rect">
            <a:avLst/>
          </a:prstGeom>
          <a:noFill/>
          <a:ln/>
        </p:spPr>
        <p:txBody>
          <a:bodyPr wrap="square" rtlCol="0" anchor="ctr"/>
          <a:lstStyle/>
          <a:p>
            <a:pPr indent="0" marL="0">
              <a:buNone/>
            </a:pPr>
            <a:r>
              <a:rPr lang="en-US" sz="1500" b="1" dirty="0">
                <a:solidFill>
                  <a:srgbClr val="1F3864"/>
                </a:solidFill>
                <a:latin typeface="Georgia" pitchFamily="34" charset="0"/>
                <a:ea typeface="Georgia" pitchFamily="34" charset="-122"/>
                <a:cs typeface="Georgia" pitchFamily="34" charset="-120"/>
              </a:rPr>
              <a:t>Y dentro, un manual de tramitación</a:t>
            </a:r>
            <a:endParaRPr lang="en-US" sz="1500" dirty="0"/>
          </a:p>
        </p:txBody>
      </p:sp>
      <p:sp>
        <p:nvSpPr>
          <p:cNvPr id="21" name="Text 19"/>
          <p:cNvSpPr/>
          <p:nvPr/>
        </p:nvSpPr>
        <p:spPr>
          <a:xfrm>
            <a:off x="4297680" y="5175504"/>
            <a:ext cx="4937760" cy="676656"/>
          </a:xfrm>
          <a:prstGeom prst="rect">
            <a:avLst/>
          </a:prstGeom>
          <a:noFill/>
          <a:ln/>
        </p:spPr>
        <p:txBody>
          <a:bodyPr wrap="square" rtlCol="0" anchor="ctr"/>
          <a:lstStyle/>
          <a:p>
            <a:pPr indent="0" marL="0">
              <a:buNone/>
            </a:pPr>
            <a:r>
              <a:rPr lang="en-US" sz="1160" dirty="0">
                <a:solidFill>
                  <a:srgbClr val="22201D"/>
                </a:solidFill>
                <a:latin typeface="Calibri" pitchFamily="34" charset="0"/>
                <a:ea typeface="Calibri" pitchFamily="34" charset="-122"/>
                <a:cs typeface="Calibri" pitchFamily="34" charset="-120"/>
              </a:rPr>
              <a:t>La Parte V es el circuito completo del expediente —los veintiún documentos, quién firma cada uno y en qué orden— y no tiene nada de específico de la IA.</a:t>
            </a:r>
            <a:endParaRPr lang="en-US" sz="1160" dirty="0"/>
          </a:p>
        </p:txBody>
      </p:sp>
      <p:sp>
        <p:nvSpPr>
          <p:cNvPr id="22" name="Text 20"/>
          <p:cNvSpPr/>
          <p:nvPr/>
        </p:nvSpPr>
        <p:spPr>
          <a:xfrm>
            <a:off x="9326880" y="5175504"/>
            <a:ext cx="1828800" cy="676656"/>
          </a:xfrm>
          <a:prstGeom prst="rect">
            <a:avLst/>
          </a:prstGeom>
          <a:noFill/>
          <a:ln/>
        </p:spPr>
        <p:txBody>
          <a:bodyPr wrap="square" rtlCol="0" anchor="ctr"/>
          <a:lstStyle/>
          <a:p>
            <a:pPr indent="0" marL="0">
              <a:buNone/>
            </a:pPr>
            <a:r>
              <a:rPr lang="en-US" sz="1050" i="1" dirty="0">
                <a:solidFill>
                  <a:srgbClr val="6E6A63"/>
                </a:solidFill>
                <a:latin typeface="Calibri" pitchFamily="34" charset="0"/>
                <a:ea typeface="Calibri" pitchFamily="34" charset="-122"/>
                <a:cs typeface="Calibri" pitchFamily="34" charset="-120"/>
              </a:rPr>
              <a:t>Quien tramita expedientes</a:t>
            </a:r>
            <a:endParaRPr lang="en-US" sz="1050" dirty="0"/>
          </a:p>
        </p:txBody>
      </p:sp>
      <p:sp>
        <p:nvSpPr>
          <p:cNvPr id="23" name="Text 21"/>
          <p:cNvSpPr/>
          <p:nvPr/>
        </p:nvSpPr>
        <p:spPr>
          <a:xfrm>
            <a:off x="822960" y="6080760"/>
            <a:ext cx="10515600" cy="411480"/>
          </a:xfrm>
          <a:prstGeom prst="rect">
            <a:avLst/>
          </a:prstGeom>
          <a:noFill/>
          <a:ln/>
        </p:spPr>
        <p:txBody>
          <a:bodyPr wrap="square" rtlCol="0" anchor="ctr"/>
          <a:lstStyle/>
          <a:p>
            <a:pPr indent="0" marL="0">
              <a:buNone/>
            </a:pPr>
            <a:r>
              <a:rPr lang="en-US" sz="1350" dirty="0">
                <a:solidFill>
                  <a:srgbClr val="22201D"/>
                </a:solidFill>
                <a:latin typeface="Calibri" pitchFamily="34" charset="0"/>
                <a:ea typeface="Calibri" pitchFamily="34" charset="-122"/>
                <a:cs typeface="Calibri" pitchFamily="34" charset="-120"/>
              </a:rPr>
              <a:t>Todo en abierto, bajo licencia Creative Commons Attribution 4.0: se puede copiar, adaptar y usar con cualquier finalidad, citando la autoría.</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02920"/>
            <a:ext cx="10515600" cy="822960"/>
          </a:xfrm>
          <a:prstGeom prst="rect">
            <a:avLst/>
          </a:prstGeom>
          <a:noFill/>
          <a:ln/>
        </p:spPr>
        <p:txBody>
          <a:bodyPr wrap="square" rtlCol="0" anchor="ctr"/>
          <a:lstStyle/>
          <a:p>
            <a:pPr indent="0" marL="0">
              <a:buNone/>
            </a:pPr>
            <a:r>
              <a:rPr lang="en-US" sz="3600" b="1" dirty="0">
                <a:solidFill>
                  <a:srgbClr val="1F3864"/>
                </a:solidFill>
                <a:latin typeface="Georgia" pitchFamily="34" charset="0"/>
                <a:ea typeface="Georgia" pitchFamily="34" charset="-122"/>
                <a:cs typeface="Georgia" pitchFamily="34" charset="-120"/>
              </a:rPr>
              <a:t>Quién lo ha hecho</a:t>
            </a:r>
            <a:endParaRPr lang="en-US" sz="3600" dirty="0"/>
          </a:p>
        </p:txBody>
      </p:sp>
      <p:sp>
        <p:nvSpPr>
          <p:cNvPr id="3" name="Text 1"/>
          <p:cNvSpPr/>
          <p:nvPr/>
        </p:nvSpPr>
        <p:spPr>
          <a:xfrm>
            <a:off x="822960" y="1371600"/>
            <a:ext cx="10515600" cy="548640"/>
          </a:xfrm>
          <a:prstGeom prst="rect">
            <a:avLst/>
          </a:prstGeom>
          <a:noFill/>
          <a:ln/>
        </p:spPr>
        <p:txBody>
          <a:bodyPr wrap="square" rtlCol="0" anchor="ctr"/>
          <a:lstStyle/>
          <a:p>
            <a:pPr indent="0" marL="0">
              <a:buNone/>
            </a:pPr>
            <a:r>
              <a:rPr lang="en-US" sz="1600" dirty="0">
                <a:solidFill>
                  <a:srgbClr val="22201D"/>
                </a:solidFill>
                <a:latin typeface="Calibri" pitchFamily="34" charset="0"/>
                <a:ea typeface="Calibri" pitchFamily="34" charset="-122"/>
                <a:cs typeface="Calibri" pitchFamily="34" charset="-120"/>
              </a:rPr>
              <a:t>Un trabajo conjunto de varios meses, con el reconocimiento colectivo que se recoge al final.</a:t>
            </a:r>
            <a:endParaRPr lang="en-US" sz="1600" dirty="0"/>
          </a:p>
        </p:txBody>
      </p:sp>
      <p:sp>
        <p:nvSpPr>
          <p:cNvPr id="4" name="Shape 2"/>
          <p:cNvSpPr/>
          <p:nvPr/>
        </p:nvSpPr>
        <p:spPr>
          <a:xfrm>
            <a:off x="822960" y="1965960"/>
            <a:ext cx="82296" cy="822960"/>
          </a:xfrm>
          <a:prstGeom prst="rect">
            <a:avLst/>
          </a:prstGeom>
          <a:solidFill>
            <a:srgbClr val="1F3864"/>
          </a:solidFill>
          <a:ln/>
        </p:spPr>
      </p:sp>
      <p:sp>
        <p:nvSpPr>
          <p:cNvPr id="5" name="Text 3"/>
          <p:cNvSpPr/>
          <p:nvPr/>
        </p:nvSpPr>
        <p:spPr>
          <a:xfrm>
            <a:off x="1188720" y="1965960"/>
            <a:ext cx="10058400" cy="246888"/>
          </a:xfrm>
          <a:prstGeom prst="rect">
            <a:avLst/>
          </a:prstGeom>
          <a:noFill/>
          <a:ln/>
        </p:spPr>
        <p:txBody>
          <a:bodyPr wrap="square" rtlCol="0" anchor="ctr"/>
          <a:lstStyle/>
          <a:p>
            <a:pPr indent="0" marL="0">
              <a:buNone/>
            </a:pPr>
            <a:r>
              <a:rPr lang="en-US" sz="1550" b="1" dirty="0">
                <a:solidFill>
                  <a:srgbClr val="1F3864"/>
                </a:solidFill>
                <a:latin typeface="Georgia" pitchFamily="34" charset="0"/>
                <a:ea typeface="Georgia" pitchFamily="34" charset="-122"/>
                <a:cs typeface="Georgia" pitchFamily="34" charset="-120"/>
              </a:rPr>
              <a:t>Dr. José Antonio Ondiviela García</a:t>
            </a:r>
            <a:endParaRPr lang="en-US" sz="1550" dirty="0"/>
          </a:p>
        </p:txBody>
      </p:sp>
      <p:sp>
        <p:nvSpPr>
          <p:cNvPr id="6" name="Text 4"/>
          <p:cNvSpPr/>
          <p:nvPr/>
        </p:nvSpPr>
        <p:spPr>
          <a:xfrm>
            <a:off x="1188720" y="2212848"/>
            <a:ext cx="10058400" cy="210312"/>
          </a:xfrm>
          <a:prstGeom prst="rect">
            <a:avLst/>
          </a:prstGeom>
          <a:noFill/>
          <a:ln/>
        </p:spPr>
        <p:txBody>
          <a:bodyPr wrap="square" rtlCol="0" anchor="ctr"/>
          <a:lstStyle/>
          <a:p>
            <a:pPr indent="0" marL="0">
              <a:buNone/>
            </a:pPr>
            <a:r>
              <a:rPr lang="en-US" sz="1080" dirty="0">
                <a:solidFill>
                  <a:srgbClr val="6E6A63"/>
                </a:solidFill>
                <a:latin typeface="Calibri" pitchFamily="34" charset="0"/>
                <a:ea typeface="Calibri" pitchFamily="34" charset="-122"/>
                <a:cs typeface="Calibri" pitchFamily="34" charset="-120"/>
              </a:rPr>
              <a:t>Profesor e investigador de la Escuela Politécnica Superior · Universidad Francisco de Vitoria  ·  ufv.es</a:t>
            </a:r>
            <a:endParaRPr lang="en-US" sz="1080" dirty="0"/>
          </a:p>
        </p:txBody>
      </p:sp>
      <p:sp>
        <p:nvSpPr>
          <p:cNvPr id="7" name="Text 5"/>
          <p:cNvSpPr/>
          <p:nvPr/>
        </p:nvSpPr>
        <p:spPr>
          <a:xfrm>
            <a:off x="1188720" y="2423160"/>
            <a:ext cx="10058400" cy="365760"/>
          </a:xfrm>
          <a:prstGeom prst="rect">
            <a:avLst/>
          </a:prstGeom>
          <a:noFill/>
          <a:ln/>
        </p:spPr>
        <p:txBody>
          <a:bodyPr wrap="square" rtlCol="0" anchor="ctr"/>
          <a:lstStyle/>
          <a:p>
            <a:pPr indent="0" marL="0">
              <a:buNone/>
            </a:pPr>
            <a:r>
              <a:rPr lang="en-US" sz="1140" dirty="0">
                <a:solidFill>
                  <a:srgbClr val="22201D"/>
                </a:solidFill>
                <a:latin typeface="Calibri" pitchFamily="34" charset="0"/>
                <a:ea typeface="Calibri" pitchFamily="34" charset="-122"/>
                <a:cs typeface="Calibri" pitchFamily="34" charset="-120"/>
              </a:rPr>
              <a:t>La mirada del mercado: qué se le puede pedir de verdad a un fabricante de software y qué hará que no se presente. Suya es la idea que resuelve el problema de fondo.</a:t>
            </a:r>
            <a:endParaRPr lang="en-US" sz="1140" dirty="0"/>
          </a:p>
        </p:txBody>
      </p:sp>
      <p:sp>
        <p:nvSpPr>
          <p:cNvPr id="8" name="Shape 6"/>
          <p:cNvSpPr/>
          <p:nvPr/>
        </p:nvSpPr>
        <p:spPr>
          <a:xfrm>
            <a:off x="822960" y="2935224"/>
            <a:ext cx="82296" cy="822960"/>
          </a:xfrm>
          <a:prstGeom prst="rect">
            <a:avLst/>
          </a:prstGeom>
          <a:solidFill>
            <a:srgbClr val="1F3864"/>
          </a:solidFill>
          <a:ln/>
        </p:spPr>
      </p:sp>
      <p:sp>
        <p:nvSpPr>
          <p:cNvPr id="9" name="Text 7"/>
          <p:cNvSpPr/>
          <p:nvPr/>
        </p:nvSpPr>
        <p:spPr>
          <a:xfrm>
            <a:off x="1188720" y="2935224"/>
            <a:ext cx="10058400" cy="246888"/>
          </a:xfrm>
          <a:prstGeom prst="rect">
            <a:avLst/>
          </a:prstGeom>
          <a:noFill/>
          <a:ln/>
        </p:spPr>
        <p:txBody>
          <a:bodyPr wrap="square" rtlCol="0" anchor="ctr"/>
          <a:lstStyle/>
          <a:p>
            <a:pPr indent="0" marL="0">
              <a:buNone/>
            </a:pPr>
            <a:r>
              <a:rPr lang="en-US" sz="1550" b="1" dirty="0">
                <a:solidFill>
                  <a:srgbClr val="1F3864"/>
                </a:solidFill>
                <a:latin typeface="Georgia" pitchFamily="34" charset="0"/>
                <a:ea typeface="Georgia" pitchFamily="34" charset="-122"/>
                <a:cs typeface="Georgia" pitchFamily="34" charset="-120"/>
              </a:rPr>
              <a:t>Miguel Ángel Domínguez Castellano</a:t>
            </a:r>
            <a:endParaRPr lang="en-US" sz="1550" dirty="0"/>
          </a:p>
        </p:txBody>
      </p:sp>
      <p:sp>
        <p:nvSpPr>
          <p:cNvPr id="10" name="Text 8"/>
          <p:cNvSpPr/>
          <p:nvPr/>
        </p:nvSpPr>
        <p:spPr>
          <a:xfrm>
            <a:off x="1188720" y="3182112"/>
            <a:ext cx="10058400" cy="210312"/>
          </a:xfrm>
          <a:prstGeom prst="rect">
            <a:avLst/>
          </a:prstGeom>
          <a:noFill/>
          <a:ln/>
        </p:spPr>
        <p:txBody>
          <a:bodyPr wrap="square" rtlCol="0" anchor="ctr"/>
          <a:lstStyle/>
          <a:p>
            <a:pPr indent="0" marL="0">
              <a:buNone/>
            </a:pPr>
            <a:r>
              <a:rPr lang="en-US" sz="1080" dirty="0">
                <a:solidFill>
                  <a:srgbClr val="6E6A63"/>
                </a:solidFill>
                <a:latin typeface="Calibri" pitchFamily="34" charset="0"/>
                <a:ea typeface="Calibri" pitchFamily="34" charset="-122"/>
                <a:cs typeface="Calibri" pitchFamily="34" charset="-120"/>
              </a:rPr>
              <a:t>CEO de Add4u · Presidente de Alastria · Presidente del Clúster de Blockchain de la Comunidad de Madrid  ·  miguelangeldominguez.info</a:t>
            </a:r>
            <a:endParaRPr lang="en-US" sz="1080" dirty="0"/>
          </a:p>
        </p:txBody>
      </p:sp>
      <p:sp>
        <p:nvSpPr>
          <p:cNvPr id="11" name="Text 9"/>
          <p:cNvSpPr/>
          <p:nvPr/>
        </p:nvSpPr>
        <p:spPr>
          <a:xfrm>
            <a:off x="1188720" y="3392424"/>
            <a:ext cx="10058400" cy="365760"/>
          </a:xfrm>
          <a:prstGeom prst="rect">
            <a:avLst/>
          </a:prstGeom>
          <a:noFill/>
          <a:ln/>
        </p:spPr>
        <p:txBody>
          <a:bodyPr wrap="square" rtlCol="0" anchor="ctr"/>
          <a:lstStyle/>
          <a:p>
            <a:pPr indent="0" marL="0">
              <a:buNone/>
            </a:pPr>
            <a:r>
              <a:rPr lang="en-US" sz="1140" dirty="0">
                <a:solidFill>
                  <a:srgbClr val="22201D"/>
                </a:solidFill>
                <a:latin typeface="Calibri" pitchFamily="34" charset="0"/>
                <a:ea typeface="Calibri" pitchFamily="34" charset="-122"/>
                <a:cs typeface="Calibri" pitchFamily="34" charset="-120"/>
              </a:rPr>
              <a:t>La perspectiva de quien conoce las dos orillas: la de quien redacta pliegos y la de quien se presenta a ellos. Asume la responsabilidad editorial de la publicación.</a:t>
            </a:r>
            <a:endParaRPr lang="en-US" sz="1140" dirty="0"/>
          </a:p>
        </p:txBody>
      </p:sp>
      <p:sp>
        <p:nvSpPr>
          <p:cNvPr id="12" name="Shape 10"/>
          <p:cNvSpPr/>
          <p:nvPr/>
        </p:nvSpPr>
        <p:spPr>
          <a:xfrm>
            <a:off x="822960" y="3904488"/>
            <a:ext cx="82296" cy="822960"/>
          </a:xfrm>
          <a:prstGeom prst="rect">
            <a:avLst/>
          </a:prstGeom>
          <a:solidFill>
            <a:srgbClr val="1F3864"/>
          </a:solidFill>
          <a:ln/>
        </p:spPr>
      </p:sp>
      <p:sp>
        <p:nvSpPr>
          <p:cNvPr id="13" name="Text 11"/>
          <p:cNvSpPr/>
          <p:nvPr/>
        </p:nvSpPr>
        <p:spPr>
          <a:xfrm>
            <a:off x="1188720" y="3904488"/>
            <a:ext cx="10058400" cy="246888"/>
          </a:xfrm>
          <a:prstGeom prst="rect">
            <a:avLst/>
          </a:prstGeom>
          <a:noFill/>
          <a:ln/>
        </p:spPr>
        <p:txBody>
          <a:bodyPr wrap="square" rtlCol="0" anchor="ctr"/>
          <a:lstStyle/>
          <a:p>
            <a:pPr indent="0" marL="0">
              <a:buNone/>
            </a:pPr>
            <a:r>
              <a:rPr lang="en-US" sz="1550" b="1" dirty="0">
                <a:solidFill>
                  <a:srgbClr val="1F3864"/>
                </a:solidFill>
                <a:latin typeface="Georgia" pitchFamily="34" charset="0"/>
                <a:ea typeface="Georgia" pitchFamily="34" charset="-122"/>
                <a:cs typeface="Georgia" pitchFamily="34" charset="-120"/>
              </a:rPr>
              <a:t>Delfina Lafuente Veira — co-impulsora del proyecto</a:t>
            </a:r>
            <a:endParaRPr lang="en-US" sz="1550" dirty="0"/>
          </a:p>
        </p:txBody>
      </p:sp>
      <p:sp>
        <p:nvSpPr>
          <p:cNvPr id="14" name="Text 12"/>
          <p:cNvSpPr/>
          <p:nvPr/>
        </p:nvSpPr>
        <p:spPr>
          <a:xfrm>
            <a:off x="1188720" y="4151376"/>
            <a:ext cx="10058400" cy="210312"/>
          </a:xfrm>
          <a:prstGeom prst="rect">
            <a:avLst/>
          </a:prstGeom>
          <a:noFill/>
          <a:ln/>
        </p:spPr>
        <p:txBody>
          <a:bodyPr wrap="square" rtlCol="0" anchor="ctr"/>
          <a:lstStyle/>
          <a:p>
            <a:pPr indent="0" marL="0">
              <a:buNone/>
            </a:pPr>
            <a:r>
              <a:rPr lang="en-US" sz="1080" dirty="0">
                <a:solidFill>
                  <a:srgbClr val="6E6A63"/>
                </a:solidFill>
                <a:latin typeface="Calibri" pitchFamily="34" charset="0"/>
                <a:ea typeface="Calibri" pitchFamily="34" charset="-122"/>
                <a:cs typeface="Calibri" pitchFamily="34" charset="-120"/>
              </a:rPr>
              <a:t>Concejal de Administración Digital, Calidad e Innovación · Ayuntamiento de Pozuelo de Alarcón · a título personal  ·  pozuelodealarcon.org</a:t>
            </a:r>
            <a:endParaRPr lang="en-US" sz="1080" dirty="0"/>
          </a:p>
        </p:txBody>
      </p:sp>
      <p:sp>
        <p:nvSpPr>
          <p:cNvPr id="15" name="Text 13"/>
          <p:cNvSpPr/>
          <p:nvPr/>
        </p:nvSpPr>
        <p:spPr>
          <a:xfrm>
            <a:off x="1188720" y="4361688"/>
            <a:ext cx="10058400" cy="365760"/>
          </a:xfrm>
          <a:prstGeom prst="rect">
            <a:avLst/>
          </a:prstGeom>
          <a:noFill/>
          <a:ln/>
        </p:spPr>
        <p:txBody>
          <a:bodyPr wrap="square" rtlCol="0" anchor="ctr"/>
          <a:lstStyle/>
          <a:p>
            <a:pPr indent="0" marL="0">
              <a:buNone/>
            </a:pPr>
            <a:r>
              <a:rPr lang="en-US" sz="1140" dirty="0">
                <a:solidFill>
                  <a:srgbClr val="22201D"/>
                </a:solidFill>
                <a:latin typeface="Calibri" pitchFamily="34" charset="0"/>
                <a:ea typeface="Calibri" pitchFamily="34" charset="-122"/>
                <a:cs typeface="Calibri" pitchFamily="34" charset="-120"/>
              </a:rPr>
              <a:t>De ella nace el proyecto y suya es la primera redacción. Y suyo es el mérito menos visible: escuchar a quienes conocen la práctica real de la contratación y recoger sus aportaciones íntegras, también las que obligaban a rehacer lo ya escrito.</a:t>
            </a:r>
            <a:endParaRPr lang="en-US" sz="1140" dirty="0"/>
          </a:p>
        </p:txBody>
      </p:sp>
      <p:sp>
        <p:nvSpPr>
          <p:cNvPr id="16" name="Text 14"/>
          <p:cNvSpPr/>
          <p:nvPr/>
        </p:nvSpPr>
        <p:spPr>
          <a:xfrm>
            <a:off x="822960" y="5943600"/>
            <a:ext cx="10515600" cy="548640"/>
          </a:xfrm>
          <a:prstGeom prst="rect">
            <a:avLst/>
          </a:prstGeom>
          <a:noFill/>
          <a:ln/>
        </p:spPr>
        <p:txBody>
          <a:bodyPr wrap="square" rtlCol="0" anchor="ctr"/>
          <a:lstStyle/>
          <a:p>
            <a:pPr indent="0" marL="0">
              <a:buNone/>
            </a:pPr>
            <a:r>
              <a:rPr lang="en-US" sz="1100" i="1" dirty="0">
                <a:solidFill>
                  <a:srgbClr val="6E6A63"/>
                </a:solidFill>
                <a:latin typeface="Calibri" pitchFamily="34" charset="0"/>
                <a:ea typeface="Calibri" pitchFamily="34" charset="-122"/>
                <a:cs typeface="Calibri" pitchFamily="34" charset="-120"/>
              </a:rPr>
              <a:t>El contraste con la práctica real de la contratación y la lectura crítica de los borradores son de los servicios técnicos municipales, y se les reconoce de forma colectiva: sus aportaciones han sido voluntarias, desinteresadas y orientadas al interés general. Las cuatro dificultades del §M1.1 son la razón de ser de esta versión y se responden una a una en el cuerpo del documento. Ningún órgano de contratación, intervención o asesoría jurídica ha emitido informe sobre el catálogo ni lo ha aprobado.</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02920"/>
            <a:ext cx="10515600" cy="822960"/>
          </a:xfrm>
          <a:prstGeom prst="rect">
            <a:avLst/>
          </a:prstGeom>
          <a:noFill/>
          <a:ln/>
        </p:spPr>
        <p:txBody>
          <a:bodyPr wrap="square" rtlCol="0" anchor="ctr"/>
          <a:lstStyle/>
          <a:p>
            <a:pPr indent="0" marL="0">
              <a:buNone/>
            </a:pPr>
            <a:r>
              <a:rPr lang="en-US" sz="3600" b="1" dirty="0">
                <a:solidFill>
                  <a:srgbClr val="1F3864"/>
                </a:solidFill>
                <a:latin typeface="Georgia" pitchFamily="34" charset="0"/>
                <a:ea typeface="Georgia" pitchFamily="34" charset="-122"/>
                <a:cs typeface="Georgia" pitchFamily="34" charset="-120"/>
              </a:rPr>
              <a:t>Uso de inteligencia artificial, y cómo debe usarse esto</a:t>
            </a:r>
            <a:endParaRPr lang="en-US" sz="3600" dirty="0"/>
          </a:p>
        </p:txBody>
      </p:sp>
      <p:sp>
        <p:nvSpPr>
          <p:cNvPr id="3" name="Shape 1"/>
          <p:cNvSpPr/>
          <p:nvPr/>
        </p:nvSpPr>
        <p:spPr>
          <a:xfrm>
            <a:off x="822960" y="1417320"/>
            <a:ext cx="10515600" cy="1783080"/>
          </a:xfrm>
          <a:prstGeom prst="roundRect">
            <a:avLst>
              <a:gd name="adj" fmla="val 5128"/>
            </a:avLst>
          </a:prstGeom>
          <a:solidFill>
            <a:srgbClr val="EDF1F8"/>
          </a:solidFill>
          <a:ln/>
        </p:spPr>
      </p:sp>
      <p:sp>
        <p:nvSpPr>
          <p:cNvPr id="4" name="Text 2"/>
          <p:cNvSpPr/>
          <p:nvPr/>
        </p:nvSpPr>
        <p:spPr>
          <a:xfrm>
            <a:off x="1188720" y="1645920"/>
            <a:ext cx="9784080" cy="365760"/>
          </a:xfrm>
          <a:prstGeom prst="rect">
            <a:avLst/>
          </a:prstGeom>
          <a:noFill/>
          <a:ln/>
        </p:spPr>
        <p:txBody>
          <a:bodyPr wrap="square" rtlCol="0" anchor="ctr"/>
          <a:lstStyle/>
          <a:p>
            <a:pPr indent="0" marL="0">
              <a:buNone/>
            </a:pPr>
            <a:r>
              <a:rPr lang="en-US" sz="1500" b="1" dirty="0">
                <a:solidFill>
                  <a:srgbClr val="1F3864"/>
                </a:solidFill>
                <a:latin typeface="Calibri" pitchFamily="34" charset="0"/>
                <a:ea typeface="Calibri" pitchFamily="34" charset="-122"/>
                <a:cs typeface="Calibri" pitchFamily="34" charset="-120"/>
              </a:rPr>
              <a:t>En la elaboración de este documento se han utilizado sistemas de inteligencia artificial:</a:t>
            </a:r>
            <a:endParaRPr lang="en-US" sz="1500" dirty="0"/>
          </a:p>
        </p:txBody>
      </p:sp>
      <p:sp>
        <p:nvSpPr>
          <p:cNvPr id="5" name="Text 3"/>
          <p:cNvSpPr/>
          <p:nvPr/>
        </p:nvSpPr>
        <p:spPr>
          <a:xfrm>
            <a:off x="1188720" y="2011680"/>
            <a:ext cx="9784080" cy="1051560"/>
          </a:xfrm>
          <a:prstGeom prst="rect">
            <a:avLst/>
          </a:prstGeom>
          <a:noFill/>
          <a:ln/>
        </p:spPr>
        <p:txBody>
          <a:bodyPr wrap="square" rtlCol="0" anchor="ctr"/>
          <a:lstStyle/>
          <a:p>
            <a:pPr indent="0" marL="0">
              <a:buNone/>
            </a:pPr>
            <a:r>
              <a:rPr lang="en-US" sz="1450" dirty="0">
                <a:solidFill>
                  <a:srgbClr val="22201D"/>
                </a:solidFill>
                <a:latin typeface="Calibri" pitchFamily="34" charset="0"/>
                <a:ea typeface="Calibri" pitchFamily="34" charset="-122"/>
                <a:cs typeface="Calibri" pitchFamily="34" charset="-120"/>
              </a:rPr>
              <a:t>el clon digital («second brain») de Miguel Ángel Domínguez, determinante en la recuperación del material disperso, la investigación jurídica, la verificación de las fuentes, la crítica adversarial del texto y la redacción de los borradores. Las decisiones, el criterio jurídico y la responsabilidad son de las personas que lo firman.</a:t>
            </a:r>
            <a:endParaRPr lang="en-US" sz="1450" dirty="0"/>
          </a:p>
        </p:txBody>
      </p:sp>
      <p:sp>
        <p:nvSpPr>
          <p:cNvPr id="6" name="Text 4"/>
          <p:cNvSpPr/>
          <p:nvPr/>
        </p:nvSpPr>
        <p:spPr>
          <a:xfrm>
            <a:off x="822960" y="3337560"/>
            <a:ext cx="10515600" cy="685800"/>
          </a:xfrm>
          <a:prstGeom prst="rect">
            <a:avLst/>
          </a:prstGeom>
          <a:noFill/>
          <a:ln/>
        </p:spPr>
        <p:txBody>
          <a:bodyPr wrap="square" rtlCol="0" anchor="ctr"/>
          <a:lstStyle/>
          <a:p>
            <a:pPr indent="0" marL="0">
              <a:buNone/>
            </a:pPr>
            <a:r>
              <a:rPr lang="en-US" sz="1400" i="1" dirty="0">
                <a:solidFill>
                  <a:srgbClr val="6E6A63"/>
                </a:solidFill>
                <a:latin typeface="Calibri" pitchFamily="34" charset="0"/>
                <a:ea typeface="Calibri" pitchFamily="34" charset="-122"/>
                <a:cs typeface="Calibri" pitchFamily="34" charset="-120"/>
              </a:rPr>
              <a:t>Se declara aunque no sea obligatorio: el art. 50.4 del Reglamento (UE) 2024/1689 exime de divulgarlo cuando hay revisión humana y responsabilidad editorial. Se divulga igualmente, porque un documento que exige transparencia de IA no puede ocultarla en sí mismo.</a:t>
            </a:r>
            <a:endParaRPr lang="en-US" sz="1400" dirty="0"/>
          </a:p>
        </p:txBody>
      </p:sp>
      <p:sp>
        <p:nvSpPr>
          <p:cNvPr id="7" name="Shape 5"/>
          <p:cNvSpPr/>
          <p:nvPr/>
        </p:nvSpPr>
        <p:spPr>
          <a:xfrm>
            <a:off x="822960" y="4160520"/>
            <a:ext cx="10515600" cy="1600200"/>
          </a:xfrm>
          <a:prstGeom prst="roundRect">
            <a:avLst>
              <a:gd name="adj" fmla="val 5714"/>
            </a:avLst>
          </a:prstGeom>
          <a:solidFill>
            <a:srgbClr val="FDF6E6"/>
          </a:solidFill>
          <a:ln/>
        </p:spPr>
      </p:sp>
      <p:sp>
        <p:nvSpPr>
          <p:cNvPr id="8" name="Text 6"/>
          <p:cNvSpPr/>
          <p:nvPr/>
        </p:nvSpPr>
        <p:spPr>
          <a:xfrm>
            <a:off x="1188720" y="4389120"/>
            <a:ext cx="9784080" cy="457200"/>
          </a:xfrm>
          <a:prstGeom prst="rect">
            <a:avLst/>
          </a:prstGeom>
          <a:noFill/>
          <a:ln/>
        </p:spPr>
        <p:txBody>
          <a:bodyPr wrap="square" rtlCol="0" anchor="ctr"/>
          <a:lstStyle/>
          <a:p>
            <a:pPr indent="0" marL="0">
              <a:buNone/>
            </a:pPr>
            <a:r>
              <a:rPr lang="en-US" sz="1800" b="1" dirty="0">
                <a:solidFill>
                  <a:srgbClr val="22201D"/>
                </a:solidFill>
                <a:latin typeface="Georgia" pitchFamily="34" charset="0"/>
                <a:ea typeface="Georgia" pitchFamily="34" charset="-122"/>
                <a:cs typeface="Georgia" pitchFamily="34" charset="-120"/>
              </a:rPr>
              <a:t>Se publica «tal cual» (as is). Se recomienda su lectura y su uso — y con la misma firmeza, NO copiarlo sin entenderlo.</a:t>
            </a:r>
            <a:endParaRPr lang="en-US" sz="1800" dirty="0"/>
          </a:p>
        </p:txBody>
      </p:sp>
      <p:sp>
        <p:nvSpPr>
          <p:cNvPr id="9" name="Text 7"/>
          <p:cNvSpPr/>
          <p:nvPr/>
        </p:nvSpPr>
        <p:spPr>
          <a:xfrm>
            <a:off x="1188720" y="4892040"/>
            <a:ext cx="9784080" cy="777240"/>
          </a:xfrm>
          <a:prstGeom prst="rect">
            <a:avLst/>
          </a:prstGeom>
          <a:noFill/>
          <a:ln/>
        </p:spPr>
        <p:txBody>
          <a:bodyPr wrap="square" rtlCol="0" anchor="ctr"/>
          <a:lstStyle/>
          <a:p>
            <a:pPr indent="0" marL="0">
              <a:buNone/>
            </a:pPr>
            <a:r>
              <a:rPr lang="en-US" sz="1450" dirty="0">
                <a:solidFill>
                  <a:srgbClr val="22201D"/>
                </a:solidFill>
                <a:latin typeface="Calibri" pitchFamily="34" charset="0"/>
                <a:ea typeface="Calibri" pitchFamily="34" charset="-122"/>
                <a:cs typeface="Calibri" pitchFamily="34" charset="-120"/>
              </a:rPr>
              <a:t>Una cláusula copiada sin necesidad acreditada no protege: añade un motivo de recurso. Una exigencia copiada sin contrastar con el mercado no es más ambiciosa, es más restrictiva. Una obligación que nadie verifica es peor que no tenerla.</a:t>
            </a:r>
            <a:endParaRPr lang="en-US" sz="1450" dirty="0"/>
          </a:p>
        </p:txBody>
      </p:sp>
      <p:sp>
        <p:nvSpPr>
          <p:cNvPr id="10" name="Text 8"/>
          <p:cNvSpPr/>
          <p:nvPr/>
        </p:nvSpPr>
        <p:spPr>
          <a:xfrm>
            <a:off x="822960" y="5989320"/>
            <a:ext cx="10515600" cy="548640"/>
          </a:xfrm>
          <a:prstGeom prst="rect">
            <a:avLst/>
          </a:prstGeom>
          <a:noFill/>
          <a:ln/>
        </p:spPr>
        <p:txBody>
          <a:bodyPr wrap="square" rtlCol="0" anchor="ctr"/>
          <a:lstStyle/>
          <a:p>
            <a:pPr indent="0" marL="0">
              <a:buNone/>
            </a:pPr>
            <a:r>
              <a:rPr lang="en-US" sz="1400" i="1" dirty="0">
                <a:solidFill>
                  <a:srgbClr val="6E6A63"/>
                </a:solidFill>
                <a:latin typeface="Calibri" pitchFamily="34" charset="0"/>
                <a:ea typeface="Calibri" pitchFamily="34" charset="-122"/>
                <a:cs typeface="Calibri" pitchFamily="34" charset="-120"/>
              </a:rPr>
              <a:t>No es asesoramiento legal, y no sustituye a los informes preceptivos de ninguna administración.</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F3864"/>
        </a:solidFill>
      </p:bgPr>
    </p:bg>
    <p:spTree>
      <p:nvGrpSpPr>
        <p:cNvPr id="1" name=""/>
        <p:cNvGrpSpPr/>
        <p:nvPr/>
      </p:nvGrpSpPr>
      <p:grpSpPr>
        <a:xfrm>
          <a:off x="0" y="0"/>
          <a:ext cx="0" cy="0"/>
          <a:chOff x="0" y="0"/>
          <a:chExt cx="0" cy="0"/>
        </a:xfrm>
      </p:grpSpPr>
      <p:sp>
        <p:nvSpPr>
          <p:cNvPr id="2" name="Text 0"/>
          <p:cNvSpPr/>
          <p:nvPr/>
        </p:nvSpPr>
        <p:spPr>
          <a:xfrm>
            <a:off x="822960" y="2194560"/>
            <a:ext cx="10515600" cy="1828800"/>
          </a:xfrm>
          <a:prstGeom prst="rect">
            <a:avLst/>
          </a:prstGeom>
          <a:noFill/>
          <a:ln/>
        </p:spPr>
        <p:txBody>
          <a:bodyPr wrap="square" rtlCol="0" anchor="ctr"/>
          <a:lstStyle/>
          <a:p>
            <a:pPr indent="0" marL="0">
              <a:lnSpc>
                <a:spcPct val="120000"/>
              </a:lnSpc>
              <a:buNone/>
            </a:pPr>
            <a:r>
              <a:rPr lang="en-US" sz="3600" b="1" dirty="0">
                <a:solidFill>
                  <a:srgbClr val="FFFFFF"/>
                </a:solidFill>
                <a:latin typeface="Georgia" pitchFamily="34" charset="0"/>
                <a:ea typeface="Georgia" pitchFamily="34" charset="-122"/>
                <a:cs typeface="Georgia" pitchFamily="34" charset="-120"/>
              </a:rPr>
              <a:t>Una licitación que dura años</a:t>
            </a:r>
            <a:endParaRPr lang="en-US" sz="3600" dirty="0"/>
          </a:p>
          <a:p>
            <a:pPr indent="0" marL="0">
              <a:lnSpc>
                <a:spcPct val="120000"/>
              </a:lnSpc>
              <a:buNone/>
            </a:pPr>
            <a:r>
              <a:rPr lang="en-US" sz="3600" b="1" dirty="0">
                <a:solidFill>
                  <a:srgbClr val="FFFFFF"/>
                </a:solidFill>
                <a:latin typeface="Georgia" pitchFamily="34" charset="0"/>
                <a:ea typeface="Georgia" pitchFamily="34" charset="-122"/>
                <a:cs typeface="Georgia" pitchFamily="34" charset="-120"/>
              </a:rPr>
              <a:t>ya no se puede sacar como se sacaba antes.</a:t>
            </a:r>
            <a:endParaRPr lang="en-US" sz="3600" dirty="0"/>
          </a:p>
        </p:txBody>
      </p:sp>
      <p:sp>
        <p:nvSpPr>
          <p:cNvPr id="3" name="Text 1"/>
          <p:cNvSpPr/>
          <p:nvPr/>
        </p:nvSpPr>
        <p:spPr>
          <a:xfrm>
            <a:off x="822960" y="4206240"/>
            <a:ext cx="10515600" cy="457200"/>
          </a:xfrm>
          <a:prstGeom prst="rect">
            <a:avLst/>
          </a:prstGeom>
          <a:noFill/>
          <a:ln/>
        </p:spPr>
        <p:txBody>
          <a:bodyPr wrap="square" rtlCol="0" anchor="ctr"/>
          <a:lstStyle/>
          <a:p>
            <a:pPr indent="0" marL="0">
              <a:buNone/>
            </a:pPr>
            <a:r>
              <a:rPr lang="en-US" sz="1800" dirty="0">
                <a:solidFill>
                  <a:srgbClr val="C9D3E6"/>
                </a:solidFill>
                <a:latin typeface="Calibri" pitchFamily="34" charset="0"/>
                <a:ea typeface="Calibri" pitchFamily="34" charset="-122"/>
                <a:cs typeface="Calibri" pitchFamily="34" charset="-120"/>
              </a:rPr>
              <a:t>El clausulado completo, los modelos y esta presentación están publicados en abierto.</a:t>
            </a:r>
            <a:endParaRPr lang="en-US" sz="1800" dirty="0"/>
          </a:p>
        </p:txBody>
      </p:sp>
      <p:sp>
        <p:nvSpPr>
          <p:cNvPr id="4" name="Text 2"/>
          <p:cNvSpPr/>
          <p:nvPr/>
        </p:nvSpPr>
        <p:spPr>
          <a:xfrm>
            <a:off x="822960" y="4754880"/>
            <a:ext cx="10515600" cy="54864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migueldadd4u.github.io/ai-clauses</a:t>
            </a:r>
            <a:endParaRPr lang="en-US" sz="2200" dirty="0"/>
          </a:p>
        </p:txBody>
      </p:sp>
      <p:sp>
        <p:nvSpPr>
          <p:cNvPr id="5" name="Text 3"/>
          <p:cNvSpPr/>
          <p:nvPr/>
        </p:nvSpPr>
        <p:spPr>
          <a:xfrm>
            <a:off x="822960" y="5760720"/>
            <a:ext cx="10515600" cy="640080"/>
          </a:xfrm>
          <a:prstGeom prst="rect">
            <a:avLst/>
          </a:prstGeom>
          <a:noFill/>
          <a:ln/>
        </p:spPr>
        <p:txBody>
          <a:bodyPr wrap="square" rtlCol="0" anchor="ctr"/>
          <a:lstStyle/>
          <a:p>
            <a:pPr indent="0" marL="0">
              <a:buNone/>
            </a:pPr>
            <a:r>
              <a:rPr lang="en-US" sz="1250" i="1" dirty="0">
                <a:solidFill>
                  <a:srgbClr val="C9D3E6"/>
                </a:solidFill>
                <a:latin typeface="Calibri" pitchFamily="34" charset="0"/>
                <a:ea typeface="Calibri" pitchFamily="34" charset="-122"/>
                <a:cs typeface="Calibri" pitchFamily="34" charset="-120"/>
              </a:rPr>
              <a:t>No es asesoramiento legal. Su incorporación a un expediente concreto exige el análisis, la adaptación y los informes preceptivos de cada administración.</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Clauses · Cláusulas de IA para la contratación pública</dc:title>
  <dc:subject>PptxGenJS Presentation</dc:subject>
  <dc:creator>Miguel Ángel Domínguez Castellano</dc:creator>
  <cp:lastModifiedBy>Miguel Ángel Domínguez Castellano</cp:lastModifiedBy>
  <cp:revision>1</cp:revision>
  <dcterms:created xsi:type="dcterms:W3CDTF">2026-10-15T09:35:04Z</dcterms:created>
  <dcterms:modified xsi:type="dcterms:W3CDTF">2026-10-15T09:35:04Z</dcterms:modified>
</cp:coreProperties>
</file>