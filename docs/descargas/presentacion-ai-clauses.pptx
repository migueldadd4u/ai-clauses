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2026 de un problema real de gestión dentro de una entidad local.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371600"/>
            <a:ext cx="10515600" cy="822960"/>
          </a:xfrm>
          <a:prstGeom prst="roundRect">
            <a:avLst>
              <a:gd name="adj" fmla="val 11111"/>
            </a:avLst>
          </a:prstGeom>
          <a:solidFill>
            <a:srgbClr val="EDF1F8"/>
          </a:solidFill>
          <a:ln/>
        </p:spPr>
      </p:sp>
      <p:sp>
        <p:nvSpPr>
          <p:cNvPr id="4" name="Text 2"/>
          <p:cNvSpPr/>
          <p:nvPr/>
        </p:nvSpPr>
        <p:spPr>
          <a:xfrm>
            <a:off x="1097280" y="1444752"/>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clausulado completo</a:t>
            </a:r>
            <a:endParaRPr lang="en-US" sz="1500" dirty="0"/>
          </a:p>
        </p:txBody>
      </p:sp>
      <p:sp>
        <p:nvSpPr>
          <p:cNvPr id="5" name="Text 3"/>
          <p:cNvSpPr/>
          <p:nvPr/>
        </p:nvSpPr>
        <p:spPr>
          <a:xfrm>
            <a:off x="4297680" y="1444752"/>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160" dirty="0"/>
          </a:p>
        </p:txBody>
      </p:sp>
      <p:sp>
        <p:nvSpPr>
          <p:cNvPr id="6" name="Text 4"/>
          <p:cNvSpPr/>
          <p:nvPr/>
        </p:nvSpPr>
        <p:spPr>
          <a:xfrm>
            <a:off x="9326880" y="1444752"/>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redacta y quien fiscaliza</a:t>
            </a:r>
            <a:endParaRPr lang="en-US" sz="1050" dirty="0"/>
          </a:p>
        </p:txBody>
      </p:sp>
      <p:sp>
        <p:nvSpPr>
          <p:cNvPr id="7" name="Shape 5"/>
          <p:cNvSpPr/>
          <p:nvPr/>
        </p:nvSpPr>
        <p:spPr>
          <a:xfrm>
            <a:off x="822960" y="2304288"/>
            <a:ext cx="10515600" cy="822960"/>
          </a:xfrm>
          <a:prstGeom prst="roundRect">
            <a:avLst>
              <a:gd name="adj" fmla="val 11111"/>
            </a:avLst>
          </a:prstGeom>
          <a:solidFill>
            <a:srgbClr val="EDF1F8"/>
          </a:solidFill>
          <a:ln/>
        </p:spPr>
      </p:sp>
      <p:sp>
        <p:nvSpPr>
          <p:cNvPr id="8" name="Text 6"/>
          <p:cNvSpPr/>
          <p:nvPr/>
        </p:nvSpPr>
        <p:spPr>
          <a:xfrm>
            <a:off x="1097280" y="2377440"/>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La guía municipal · 20 páginas</a:t>
            </a:r>
            <a:endParaRPr lang="en-US" sz="1500" dirty="0"/>
          </a:p>
        </p:txBody>
      </p:sp>
      <p:sp>
        <p:nvSpPr>
          <p:cNvPr id="9" name="Text 7"/>
          <p:cNvSpPr/>
          <p:nvPr/>
        </p:nvSpPr>
        <p:spPr>
          <a:xfrm>
            <a:off x="4297680" y="2377440"/>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160" dirty="0"/>
          </a:p>
        </p:txBody>
      </p:sp>
      <p:sp>
        <p:nvSpPr>
          <p:cNvPr id="10" name="Text 8"/>
          <p:cNvSpPr/>
          <p:nvPr/>
        </p:nvSpPr>
        <p:spPr>
          <a:xfrm>
            <a:off x="9326880" y="2377440"/>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Concejalía, Contratación, Intervención y TI</a:t>
            </a:r>
            <a:endParaRPr lang="en-US" sz="1050" dirty="0"/>
          </a:p>
        </p:txBody>
      </p:sp>
      <p:sp>
        <p:nvSpPr>
          <p:cNvPr id="11" name="Shape 9"/>
          <p:cNvSpPr/>
          <p:nvPr/>
        </p:nvSpPr>
        <p:spPr>
          <a:xfrm>
            <a:off x="822960" y="3236976"/>
            <a:ext cx="10515600" cy="822960"/>
          </a:xfrm>
          <a:prstGeom prst="roundRect">
            <a:avLst>
              <a:gd name="adj" fmla="val 11111"/>
            </a:avLst>
          </a:prstGeom>
          <a:solidFill>
            <a:srgbClr val="EDF1F8"/>
          </a:solidFill>
          <a:ln/>
        </p:spPr>
      </p:sp>
      <p:sp>
        <p:nvSpPr>
          <p:cNvPr id="12" name="Text 10"/>
          <p:cNvSpPr/>
          <p:nvPr/>
        </p:nvSpPr>
        <p:spPr>
          <a:xfrm>
            <a:off x="1097280" y="3310128"/>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resumen y la guía de uso</a:t>
            </a:r>
            <a:endParaRPr lang="en-US" sz="1500" dirty="0"/>
          </a:p>
        </p:txBody>
      </p:sp>
      <p:sp>
        <p:nvSpPr>
          <p:cNvPr id="13" name="Text 11"/>
          <p:cNvSpPr/>
          <p:nvPr/>
        </p:nvSpPr>
        <p:spPr>
          <a:xfrm>
            <a:off x="4297680" y="3310128"/>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160" dirty="0"/>
          </a:p>
        </p:txBody>
      </p:sp>
      <p:sp>
        <p:nvSpPr>
          <p:cNvPr id="14" name="Text 12"/>
          <p:cNvSpPr/>
          <p:nvPr/>
        </p:nvSpPr>
        <p:spPr>
          <a:xfrm>
            <a:off x="9326880" y="3310128"/>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Alcaldía, concejalías, prensa</a:t>
            </a:r>
            <a:endParaRPr lang="en-US" sz="1050" dirty="0"/>
          </a:p>
        </p:txBody>
      </p:sp>
      <p:sp>
        <p:nvSpPr>
          <p:cNvPr id="15" name="Shape 13"/>
          <p:cNvSpPr/>
          <p:nvPr/>
        </p:nvSpPr>
        <p:spPr>
          <a:xfrm>
            <a:off x="822960" y="4169664"/>
            <a:ext cx="10515600" cy="822960"/>
          </a:xfrm>
          <a:prstGeom prst="roundRect">
            <a:avLst>
              <a:gd name="adj" fmla="val 11111"/>
            </a:avLst>
          </a:prstGeom>
          <a:solidFill>
            <a:srgbClr val="EDF1F8"/>
          </a:solidFill>
          <a:ln/>
        </p:spPr>
      </p:sp>
      <p:sp>
        <p:nvSpPr>
          <p:cNvPr id="16" name="Text 14"/>
          <p:cNvSpPr/>
          <p:nvPr/>
        </p:nvSpPr>
        <p:spPr>
          <a:xfrm>
            <a:off x="1097280" y="4242816"/>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Esta presentación</a:t>
            </a:r>
            <a:endParaRPr lang="en-US" sz="1500" dirty="0"/>
          </a:p>
        </p:txBody>
      </p:sp>
      <p:sp>
        <p:nvSpPr>
          <p:cNvPr id="17" name="Text 15"/>
          <p:cNvSpPr/>
          <p:nvPr/>
        </p:nvSpPr>
        <p:spPr>
          <a:xfrm>
            <a:off x="4297680" y="4242816"/>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160" dirty="0"/>
          </a:p>
        </p:txBody>
      </p:sp>
      <p:sp>
        <p:nvSpPr>
          <p:cNvPr id="18" name="Text 16"/>
          <p:cNvSpPr/>
          <p:nvPr/>
        </p:nvSpPr>
        <p:spPr>
          <a:xfrm>
            <a:off x="9326880" y="4242816"/>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Cualquier sala</a:t>
            </a:r>
            <a:endParaRPr lang="en-US" sz="1050" dirty="0"/>
          </a:p>
        </p:txBody>
      </p:sp>
      <p:sp>
        <p:nvSpPr>
          <p:cNvPr id="19" name="Shape 17"/>
          <p:cNvSpPr/>
          <p:nvPr/>
        </p:nvSpPr>
        <p:spPr>
          <a:xfrm>
            <a:off x="822960" y="5102352"/>
            <a:ext cx="10515600" cy="822960"/>
          </a:xfrm>
          <a:prstGeom prst="roundRect">
            <a:avLst>
              <a:gd name="adj" fmla="val 11111"/>
            </a:avLst>
          </a:prstGeom>
          <a:solidFill>
            <a:srgbClr val="EDF1F8"/>
          </a:solidFill>
          <a:ln/>
        </p:spPr>
      </p:sp>
      <p:sp>
        <p:nvSpPr>
          <p:cNvPr id="20" name="Text 18"/>
          <p:cNvSpPr/>
          <p:nvPr/>
        </p:nvSpPr>
        <p:spPr>
          <a:xfrm>
            <a:off x="1097280" y="5175504"/>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Y dentro, un manual de tramitación</a:t>
            </a:r>
            <a:endParaRPr lang="en-US" sz="1500" dirty="0"/>
          </a:p>
        </p:txBody>
      </p:sp>
      <p:sp>
        <p:nvSpPr>
          <p:cNvPr id="21" name="Text 19"/>
          <p:cNvSpPr/>
          <p:nvPr/>
        </p:nvSpPr>
        <p:spPr>
          <a:xfrm>
            <a:off x="4297680" y="5175504"/>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Parte V es el circuito completo del expediente —los veintiún documentos, quién firma cada uno y en qué orden— y no tiene nada de específico de la IA.</a:t>
            </a:r>
            <a:endParaRPr lang="en-US" sz="1160" dirty="0"/>
          </a:p>
        </p:txBody>
      </p:sp>
      <p:sp>
        <p:nvSpPr>
          <p:cNvPr id="22" name="Text 20"/>
          <p:cNvSpPr/>
          <p:nvPr/>
        </p:nvSpPr>
        <p:spPr>
          <a:xfrm>
            <a:off x="9326880" y="5175504"/>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tramita expedientes</a:t>
            </a:r>
            <a:endParaRPr lang="en-US" sz="1050" dirty="0"/>
          </a:p>
        </p:txBody>
      </p:sp>
      <p:sp>
        <p:nvSpPr>
          <p:cNvPr id="23" name="Text 21"/>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con el reconocimiento colectivo que se recoge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 — co-impulsora del proyecto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a título personal  ·  pozuelodealarcon.org</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16" name="Text 14"/>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El contraste con la práctica real de la contratación y la lectura crítica de los borradores son de los servicios técnicos municipales, y se reconocen de forma colectiva y deliberada. 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2026-09-10T18:29:42Z</dcterms:created>
  <dcterms:modified xsi:type="dcterms:W3CDTF">2026-09-10T18:29:42Z</dcterms:modified>
</cp:coreProperties>
</file>