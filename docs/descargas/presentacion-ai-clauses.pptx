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Clauses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contrato público de tecnología dura años.</a:t>
            </a:r>
            <a:endParaRPr lang="en-US" sz="4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tecnología que compra, no.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Cláusulas de inteligencia artificial y deep tech para pliegos de contratación pública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0"/>
            <a:ext cx="2011680" cy="0"/>
          </a:xfrm>
          <a:prstGeom prst="line">
            <a:avLst/>
          </a:prstGeom>
          <a:noFill/>
          <a:ln w="19050">
            <a:solidFill>
              <a:srgbClr val="C9D3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Delfina Lafuente Veira  ·  Dr. José Antonio Ondiviela García  ·  Miguel Ángel Domínguez Castellano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3.0 · septiembre de 2026 · publicado en abierto bajo licencia CC BY 4.0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idea, en una frase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el contrato obligue al proveedor a entregar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capacidades concretas y comprobables durante toda su vida,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lugar de una promesa de «mantenerse actualizado».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188720" y="4206240"/>
            <a:ext cx="9784080" cy="1371600"/>
          </a:xfrm>
          <a:prstGeom prst="roundRect">
            <a:avLst>
              <a:gd name="adj" fmla="val 6667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554480" y="452628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que se pueda comprobar con un acta, no con una discusión.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demás de esta presentación es la explicación de esa frase.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problema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ayuntamiento contrata un sistema de gestión: tributos, padrón, contabilidad, atención al ciudadano. Da igual cuál.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firma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9728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 está al día. El pliego es correcto.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3484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FDF6E6"/>
          </a:solidFill>
          <a:ln/>
        </p:spPr>
      </p:sp>
      <p:sp>
        <p:nvSpPr>
          <p:cNvPr id="9" name="Text 7"/>
          <p:cNvSpPr/>
          <p:nvPr/>
        </p:nvSpPr>
        <p:spPr>
          <a:xfrm>
            <a:off x="470916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0916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Aparece algo mejor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70916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Capacidades que al redactar el pliego no existían y nadie podía nombrar.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4672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FBEEEC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acaba el contrato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32104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años de servicio público prestado con herramientas de otra época.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ha hecho nada mal por el camino. Es un defecto de diseño del contrato.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los dos años sólo hay tres salidas, y las tres cuestan dinero público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9728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paga dos veces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saca un contrato nuevo para «modernizar» lo que ya se compró. La misma función, otra vez facturada.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3484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8" name="Text 6"/>
          <p:cNvSpPr/>
          <p:nvPr/>
        </p:nvSpPr>
        <p:spPr>
          <a:xfrm>
            <a:off x="470916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70916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aguanta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0916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espera al final del contrato prestando el servicio con lo que hay.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32104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queda cautivo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32104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de proveedor obligaría a dejar atrás los datos y los desarrollos propios. Sale tan caro que no se cambia.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tercera es la peor: la licitación siguiente está decidida antes de publicarse.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«Que se comprometa a mantenerlo actualizado» no sirve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Suena razonable. Es lo primero que uno escribiría. Y no funciona por tres motivos: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2103120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empresa no puede ponerle precio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212080" y="2103120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pide algo cuyo contenido nadie conoce todavía. O infla la oferta por si acaso, o la ignora y ya discutirá durante la ejecución.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822960" y="3310128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3310128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administración no puede exigirlo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212080" y="3310128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Demostrar que una tecnología concreta «era necesaria» es una apreciación técnica que no se sostiene frente a un contratista bien asesorado.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2960" y="4517136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517136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un tribunal la anula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212080" y="4517136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obligación genérica no puede ser ni siquiera una obligación contractual, y menos aún una cuyo incumplimiento permita resolver el contrato.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que no se puede exigir es peor que no tener clausulado: da falsa seguridad.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vuelta de tuerca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lugar de comprar una evolución futura indefinida…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1737360"/>
          </a:xfrm>
          <a:prstGeom prst="roundRect">
            <a:avLst>
              <a:gd name="adj" fmla="val 5263"/>
            </a:avLst>
          </a:prstGeom>
          <a:solidFill>
            <a:srgbClr val="EFF5F0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228600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…se compran capacidades concretas, con plazo y con criterios de aceptación</a:t>
            </a:r>
            <a:endParaRPr lang="en-US" sz="2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verificables, fijadas al licitar y revisadas cada año para las licitaciones siguientes.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2296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empresa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 exactamente qué está ofertando, y puede ponerle precio.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43484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administración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43484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 exactamente qué puede exigir, y cuándo.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04672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tribunal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4672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 nada indeterminado que anular.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se pueda concretar hoy, se concreta el año que viene, en la licitación siguiente.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otra mitad del problema: de quién son los datos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pliego puede restringir la competencia de dos maneras. La conocida es escribirlo a medida de un proveedor. La otra es más silenciosa: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FDF6E6"/>
          </a:solidFill>
          <a:ln/>
        </p:spPr>
      </p:sp>
      <p:sp>
        <p:nvSpPr>
          <p:cNvPr id="5" name="Text 3"/>
          <p:cNvSpPr/>
          <p:nvPr/>
        </p:nvSpPr>
        <p:spPr>
          <a:xfrm>
            <a:off x="1234440" y="251460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 terminar el contrato los datos, los desarrollos y la lógica de negocio se quedan con el proveedor saliente, cambiar de empresa es tan caro que nadie cambia.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una parte central del clausulado no habla de inteligencia artificial: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quién son los datos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en qué formato se devuelven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3484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quién son los algoritmos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0916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hechos a medida para la administración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14" name="Text 12"/>
          <p:cNvSpPr/>
          <p:nvPr/>
        </p:nvSpPr>
        <p:spPr>
          <a:xfrm>
            <a:off x="832104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se entrega al terminar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2104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plazo, y quién comprueba que funciona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pliego que restringe la competencia no es más exigente: es más frágil.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este documento NO promete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10515600" cy="137160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/>
        </p:spPr>
      </p:sp>
      <p:sp>
        <p:nvSpPr>
          <p:cNvPr id="4" name="Text 2"/>
          <p:cNvSpPr/>
          <p:nvPr/>
        </p:nvSpPr>
        <p:spPr>
          <a:xfrm>
            <a:off x="1234440" y="1783080"/>
            <a:ext cx="9692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se promete que ningún tribunal pueda anular nada.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es prometible: aún no existe doctrina sobre cláusulas de IA en contratación pública.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sí está diseñado, y se puede comprobar cláusula por cláusula: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374904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necesidad identificada, y la norma o el acuerdo que la impone;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instrumento correcto, y sólo uno, para que nada se puntúe dos veces;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medio de acreditación y una forma de verificación, con quién la hace y cuánto cuesta;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consecuencia tasada si se incumple, proporcionada y dentro de los límites legales;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una regla de separabilidad: si cae una pieza, no arrastra el pliego entero.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Prometer que algo es inanulable destruye su credibilidad ante quien tiene que firmarlo.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dónde sale: un ayuntamiento y tres objeciones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nació en el Ayuntamiento de Pozuelo de Alarcón en 2026 y se sometió al criterio de su área de contratación. Lo que esa área respondió es lo que da forma a esta versión.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46888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«Artificioso al contrato»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931920" y="246888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cláusula lleva ahora el origen de su necesidad: una norma, el servicio gestor, o un acuerdo del órgano de gobierno. Lo que no tiene ninguno de los tres, no entra.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22960" y="361188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70332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«Demasiado abstracto»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931920" y="370332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cláusula tiene siete epígrafes fijos, y el texto que se copia va dentro de un recuadro. Fuera del recuadro no se copia nada.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22960" y="484632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EDF1F8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93776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«Pruébalo primero»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931920" y="493776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documento incluye el caso piloto resuelto entero, con su expediente y con lo que hay que rectificar de lo ya redactado.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objeciones se responden dentro del documento, no en una nota al pie.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es, y qué no 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EFF5F0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18745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6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43000" y="2377440"/>
            <a:ext cx="4480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catálogo de cláusulas ya redactadas, con su justificación y su medio de prueba.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manual de expediente: qué documento hace falta, quién lo firma y en qué orden.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caso piloto resuelto de principio a fin.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0" y="16459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FBEEEC"/>
          </a:solidFill>
          <a:ln/>
        </p:spPr>
      </p:sp>
      <p:sp>
        <p:nvSpPr>
          <p:cNvPr id="7" name="Text 5"/>
          <p:cNvSpPr/>
          <p:nvPr/>
        </p:nvSpPr>
        <p:spPr>
          <a:xfrm>
            <a:off x="6537960" y="18745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37960" y="2377440"/>
            <a:ext cx="4480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norma. No obliga a nadie por sí mismo.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aplicación automática. Ninguna cláusula entra en un pliego por existir aquí.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«copia y pega». Una cláusula sin necesidad acreditada no protege: añade un motivo de recurso.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toma lo que cada expediente necesita, y se justifica. Ésa es toda la regla de uso.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hay publicado, y para quién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10515600" cy="987552"/>
          </a:xfrm>
          <a:prstGeom prst="roundRect">
            <a:avLst>
              <a:gd name="adj" fmla="val 9259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527048"/>
            <a:ext cx="31089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clausulado completo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297680" y="1527048"/>
            <a:ext cx="49377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Catálogo, memoria justificativa para la Intervención, circuito del expediente, caso piloto y anexos con todos los modelos.</a:t>
            </a:r>
            <a:endParaRPr lang="en-US" sz="1280" dirty="0"/>
          </a:p>
        </p:txBody>
      </p:sp>
      <p:sp>
        <p:nvSpPr>
          <p:cNvPr id="6" name="Text 4"/>
          <p:cNvSpPr/>
          <p:nvPr/>
        </p:nvSpPr>
        <p:spPr>
          <a:xfrm>
            <a:off x="9326880" y="1527048"/>
            <a:ext cx="18288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redacta y quien fiscaliza</a:t>
            </a:r>
            <a:endParaRPr lang="en-US" sz="112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10515600" cy="987552"/>
          </a:xfrm>
          <a:prstGeom prst="roundRect">
            <a:avLst>
              <a:gd name="adj" fmla="val 9259"/>
            </a:avLst>
          </a:prstGeom>
          <a:solidFill>
            <a:srgbClr val="EDF1F8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670048"/>
            <a:ext cx="31089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guía municipal · 20 páginas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297680" y="2670048"/>
            <a:ext cx="49377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decidir, motivar, seleccionar, copiar y verificar sin recorrer el catálogo entero.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9326880" y="2670048"/>
            <a:ext cx="18288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Concejalía, Contratación, Intervención y TI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822960" y="3703320"/>
            <a:ext cx="10515600" cy="987552"/>
          </a:xfrm>
          <a:prstGeom prst="roundRect">
            <a:avLst>
              <a:gd name="adj" fmla="val 9259"/>
            </a:avLst>
          </a:prstGeom>
          <a:solidFill>
            <a:srgbClr val="EDF1F8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813048"/>
            <a:ext cx="31089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resumen y la guía de uso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297680" y="3813048"/>
            <a:ext cx="49377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primera parte del documento, escrita para quien no sabe nada de contratación ni de tecnología.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9326880" y="3813048"/>
            <a:ext cx="18288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Alcaldía, concejalías, prensa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822960" y="4846320"/>
            <a:ext cx="10515600" cy="987552"/>
          </a:xfrm>
          <a:prstGeom prst="roundRect">
            <a:avLst>
              <a:gd name="adj" fmla="val 9259"/>
            </a:avLst>
          </a:prstGeom>
          <a:solidFill>
            <a:srgbClr val="EDF1F8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4956048"/>
            <a:ext cx="31089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 presentación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4297680" y="4956048"/>
            <a:ext cx="49377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y la solución, sin que haga falta saber nada previo.</a:t>
            </a:r>
            <a:endParaRPr lang="en-US" sz="1280" dirty="0"/>
          </a:p>
        </p:txBody>
      </p:sp>
      <p:sp>
        <p:nvSpPr>
          <p:cNvPr id="18" name="Text 16"/>
          <p:cNvSpPr/>
          <p:nvPr/>
        </p:nvSpPr>
        <p:spPr>
          <a:xfrm>
            <a:off x="9326880" y="4956048"/>
            <a:ext cx="18288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sala</a:t>
            </a:r>
            <a:endParaRPr lang="en-US" sz="1120" dirty="0"/>
          </a:p>
        </p:txBody>
      </p:sp>
      <p:sp>
        <p:nvSpPr>
          <p:cNvPr id="19" name="Text 17"/>
          <p:cNvSpPr/>
          <p:nvPr/>
        </p:nvSpPr>
        <p:spPr>
          <a:xfrm>
            <a:off x="822960" y="60807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abierto, bajo licencia Creative Commons Attribution 4.0: se puede copiar, adaptar y usar con cualquier finalidad, citando la autoría.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Quién lo ha hecho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trabajo conjunto de varios meses entre cinco personas, cada una desde su oficio, con el Ayuntamiento de Pozuelo de Alarcón como banco de pruebas real.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82296" cy="8229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965960"/>
            <a:ext cx="10058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Delfina Lafuente Veira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188720" y="2212848"/>
            <a:ext cx="10058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Concejal de Administración Digital, Calidad e Innovación · Ayuntamiento de Pozuelo de Alarcón  ·  pozuelodealarcon.org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1188720" y="2423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ella nace el proyecto y suya es la primera redacción. Y suyo es el mérito menos visible: llevarlo a los servicios de contratación y jurídicos de su propio ayuntamiento y traer sus objeciones de vuelta enteras.</a:t>
            </a:r>
            <a:endParaRPr lang="en-US" sz="1140" dirty="0"/>
          </a:p>
        </p:txBody>
      </p:sp>
      <p:sp>
        <p:nvSpPr>
          <p:cNvPr id="8" name="Shape 6"/>
          <p:cNvSpPr/>
          <p:nvPr/>
        </p:nvSpPr>
        <p:spPr>
          <a:xfrm>
            <a:off x="822960" y="2935224"/>
            <a:ext cx="82296" cy="8229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2935224"/>
            <a:ext cx="10058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Dr. José Antonio Ondiviela García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188720" y="3182112"/>
            <a:ext cx="10058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 e investigador de la Escuela Politécnica Superior · Universidad Francisco de Vitoria  ·  ufv.es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1188720" y="339242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mirada del mercado: qué se le puede pedir de verdad a un fabricante de software y qué hará que no se presente. Suya es la idea que resuelve el problema de fondo.</a:t>
            </a:r>
            <a:endParaRPr lang="en-US" sz="1140" dirty="0"/>
          </a:p>
        </p:txBody>
      </p:sp>
      <p:sp>
        <p:nvSpPr>
          <p:cNvPr id="12" name="Shape 10"/>
          <p:cNvSpPr/>
          <p:nvPr/>
        </p:nvSpPr>
        <p:spPr>
          <a:xfrm>
            <a:off x="822960" y="3904488"/>
            <a:ext cx="82296" cy="8229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3904488"/>
            <a:ext cx="10058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Miguel Ángel Domínguez Castellano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188720" y="4151376"/>
            <a:ext cx="10058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de Add4u · Presidente de Alastria · Presidente del Clúster de Blockchain de la Comunidad de Madrid  ·  miguelangeldominguez.info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188720" y="436168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perspectiva de quien conoce las dos orillas: la de quien redacta pliegos y la de quien se presenta a ellos. Asume la responsabilidad editorial de la publicación.</a:t>
            </a:r>
            <a:endParaRPr lang="en-US" sz="1140" dirty="0"/>
          </a:p>
        </p:txBody>
      </p:sp>
      <p:sp>
        <p:nvSpPr>
          <p:cNvPr id="16" name="Shape 14"/>
          <p:cNvSpPr/>
          <p:nvPr/>
        </p:nvSpPr>
        <p:spPr>
          <a:xfrm>
            <a:off x="822960" y="4873752"/>
            <a:ext cx="82296" cy="8229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88720" y="4873752"/>
            <a:ext cx="10058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Enrique Jiménez y Roberto García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188720" y="5120640"/>
            <a:ext cx="10058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Técnicos del área de contratación · Ayuntamiento de Pozuelo de Alarcón</a:t>
            </a:r>
            <a:endParaRPr lang="en-US" sz="1080" dirty="0"/>
          </a:p>
        </p:txBody>
      </p:sp>
      <p:sp>
        <p:nvSpPr>
          <p:cNvPr id="19" name="Text 17"/>
          <p:cNvSpPr/>
          <p:nvPr/>
        </p:nvSpPr>
        <p:spPr>
          <a:xfrm>
            <a:off x="1188720" y="533095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 y supervisores técnicos: han aportado el contraste de la práctica municipal y la supervisión técnica de la formulación contractual.</a:t>
            </a:r>
            <a:endParaRPr lang="en-US" sz="1140" dirty="0"/>
          </a:p>
        </p:txBody>
      </p:sp>
      <p:sp>
        <p:nvSpPr>
          <p:cNvPr id="20" name="Text 18"/>
          <p:cNvSpPr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objeciones formuladas desde el área de contratación son la razón de ser de esta versión y están respondidas en el cuerpo del documento.</a:t>
            </a:r>
            <a:endParaRPr lang="en-US" sz="11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Uso de inteligencia artificial, y cómo debe usarse esto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10515600" cy="1783080"/>
          </a:xfrm>
          <a:prstGeom prst="roundRect">
            <a:avLst>
              <a:gd name="adj" fmla="val 5128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0" y="1645920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elaboración de este documento se han utilizado sistemas de inteligencia artificial: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88720" y="2011680"/>
            <a:ext cx="9784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clon digital («second brain») de Miguel Ángel Domínguez, determinante en la recuperación del material disperso, la investigación jurídica, la verificación de las fuentes, la crítica adversarial del texto y la redacción de los borradores. Las decisiones, el criterio jurídico y la responsabilidad son de las personas que lo firman.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22960" y="333756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declara aunque no sea obligatorio: el art. 50.4 del Reglamento (UE) 2024/1689 exime de divulgarlo cuando hay revisión humana y responsabilidad editorial. Se divulga igualmente, porque un documento que exige transparencia de IA no puede ocultarla en sí mismo.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4160520"/>
            <a:ext cx="10515600" cy="1600200"/>
          </a:xfrm>
          <a:prstGeom prst="roundRect">
            <a:avLst>
              <a:gd name="adj" fmla="val 5714"/>
            </a:avLst>
          </a:prstGeom>
          <a:solidFill>
            <a:srgbClr val="FDF6E6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389120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publica «tal cual» (as is). Se recomienda su lectura y su uso — y con la misma firmeza, NO copiarlo sin entenderlo.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489204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cláusula copiada sin necesidad acreditada no protege: añade un motivo de recurso. Una exigencia copiada sin contrastar con el mercado no es más ambiciosa, es más restrictiva. Una obligación que nadie verifica es peor que no tenerla.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asesoramiento legal, y no sustituye a los informes preceptivos de ninguna administración.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licitación que dura años</a:t>
            </a:r>
            <a:endParaRPr lang="en-US" sz="3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 no se puede sacar como se sacaba antes.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completo, los modelos y esta presentación están publicados en abierto.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github.com/migueldadd4u/ai-clauses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5760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asesoramiento legal. Su incorporación a un expediente concreto exige el análisis, la adaptación y los informes preceptivos de cada administración.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Clauses · Cláusulas de IA para la contratación pública</dc:title>
  <dc:subject>PptxGenJS Presentation</dc:subject>
  <dc:creator>Miguel Ángel Domínguez Castellano</dc:creator>
  <cp:lastModifiedBy>Miguel Ángel Domínguez Castellano</cp:lastModifiedBy>
  <cp:revision>1</cp:revision>
  <dcterms:created xsi:type="dcterms:W3CDTF">2026-09-01T15:14:02Z</dcterms:created>
  <dcterms:modified xsi:type="dcterms:W3CDTF">2026-09-01T15:14:02Z</dcterms:modified>
</cp:coreProperties>
</file>