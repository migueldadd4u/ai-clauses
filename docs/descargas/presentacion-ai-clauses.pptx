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1600200"/>
            <a:ext cx="10515600" cy="731520"/>
          </a:xfrm>
          <a:prstGeom prst="rect">
            <a:avLst/>
          </a:prstGeom>
          <a:noFill/>
          <a:ln/>
        </p:spPr>
        <p:txBody>
          <a:bodyPr wrap="square" rtlCol="0" anchor="ctr"/>
          <a:lstStyle/>
          <a:p>
            <a:pPr indent="0" marL="0">
              <a:buNone/>
            </a:pPr>
            <a:r>
              <a:rPr lang="en-US" sz="3000" dirty="0">
                <a:solidFill>
                  <a:srgbClr val="C9D3E6"/>
                </a:solidFill>
                <a:latin typeface="Georgia" pitchFamily="34" charset="0"/>
                <a:ea typeface="Georgia" pitchFamily="34" charset="-122"/>
                <a:cs typeface="Georgia" pitchFamily="34" charset="-120"/>
              </a:rPr>
              <a:t>AI Clauses</a:t>
            </a:r>
            <a:endParaRPr lang="en-US" sz="3000" dirty="0"/>
          </a:p>
        </p:txBody>
      </p:sp>
      <p:sp>
        <p:nvSpPr>
          <p:cNvPr id="3" name="Text 1"/>
          <p:cNvSpPr/>
          <p:nvPr/>
        </p:nvSpPr>
        <p:spPr>
          <a:xfrm>
            <a:off x="822960" y="2286000"/>
            <a:ext cx="10515600" cy="1737360"/>
          </a:xfrm>
          <a:prstGeom prst="rect">
            <a:avLst/>
          </a:prstGeom>
          <a:noFill/>
          <a:ln/>
        </p:spPr>
        <p:txBody>
          <a:bodyPr wrap="square" rtlCol="0" anchor="ctr"/>
          <a:lstStyle/>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Un contrato público de tecnología dura años.</a:t>
            </a:r>
            <a:endParaRPr lang="en-US" sz="4200" dirty="0"/>
          </a:p>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La tecnología que compra, no.</a:t>
            </a:r>
            <a:endParaRPr lang="en-US" sz="4200" dirty="0"/>
          </a:p>
        </p:txBody>
      </p:sp>
      <p:sp>
        <p:nvSpPr>
          <p:cNvPr id="4" name="Text 2"/>
          <p:cNvSpPr/>
          <p:nvPr/>
        </p:nvSpPr>
        <p:spPr>
          <a:xfrm>
            <a:off x="822960" y="4206240"/>
            <a:ext cx="10515600" cy="548640"/>
          </a:xfrm>
          <a:prstGeom prst="rect">
            <a:avLst/>
          </a:prstGeom>
          <a:noFill/>
          <a:ln/>
        </p:spPr>
        <p:txBody>
          <a:bodyPr wrap="square" rtlCol="0" anchor="ctr"/>
          <a:lstStyle/>
          <a:p>
            <a:pPr indent="0" marL="0">
              <a:buNone/>
            </a:pPr>
            <a:r>
              <a:rPr lang="en-US" sz="1900" dirty="0">
                <a:solidFill>
                  <a:srgbClr val="C9D3E6"/>
                </a:solidFill>
                <a:latin typeface="Calibri" pitchFamily="34" charset="0"/>
                <a:ea typeface="Calibri" pitchFamily="34" charset="-122"/>
                <a:cs typeface="Calibri" pitchFamily="34" charset="-120"/>
              </a:rPr>
              <a:t>Cláusulas de inteligencia artificial y deep tech para pliegos de contratación pública</a:t>
            </a:r>
            <a:endParaRPr lang="en-US" sz="1900" dirty="0"/>
          </a:p>
        </p:txBody>
      </p:sp>
      <p:sp>
        <p:nvSpPr>
          <p:cNvPr id="5" name="Shape 3"/>
          <p:cNvSpPr/>
          <p:nvPr/>
        </p:nvSpPr>
        <p:spPr>
          <a:xfrm>
            <a:off x="822960" y="5029200"/>
            <a:ext cx="2011680" cy="0"/>
          </a:xfrm>
          <a:prstGeom prst="line">
            <a:avLst/>
          </a:prstGeom>
          <a:noFill/>
          <a:ln w="19050">
            <a:solidFill>
              <a:srgbClr val="C9D3E6"/>
            </a:solidFill>
            <a:prstDash val="solid"/>
          </a:ln>
        </p:spPr>
      </p:sp>
      <p:sp>
        <p:nvSpPr>
          <p:cNvPr id="6" name="Text 4"/>
          <p:cNvSpPr/>
          <p:nvPr/>
        </p:nvSpPr>
        <p:spPr>
          <a:xfrm>
            <a:off x="822960" y="5257800"/>
            <a:ext cx="105156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Delfina Lafuente Veira  ·  Dr. José Antonio Ondiviela García  ·  Miguel Ángel Domínguez Castellano</a:t>
            </a:r>
            <a:endParaRPr lang="en-US" sz="1500" dirty="0"/>
          </a:p>
        </p:txBody>
      </p:sp>
      <p:sp>
        <p:nvSpPr>
          <p:cNvPr id="7" name="Text 5"/>
          <p:cNvSpPr/>
          <p:nvPr/>
        </p:nvSpPr>
        <p:spPr>
          <a:xfrm>
            <a:off x="822960" y="5623560"/>
            <a:ext cx="10515600" cy="365760"/>
          </a:xfrm>
          <a:prstGeom prst="rect">
            <a:avLst/>
          </a:prstGeom>
          <a:noFill/>
          <a:ln/>
        </p:spPr>
        <p:txBody>
          <a:bodyPr wrap="square" rtlCol="0" anchor="ctr"/>
          <a:lstStyle/>
          <a:p>
            <a:pPr indent="0" marL="0">
              <a:buNone/>
            </a:pPr>
            <a:r>
              <a:rPr lang="en-US" sz="1300" dirty="0">
                <a:solidFill>
                  <a:srgbClr val="C9D3E6"/>
                </a:solidFill>
                <a:latin typeface="Calibri" pitchFamily="34" charset="0"/>
                <a:ea typeface="Calibri" pitchFamily="34" charset="-122"/>
                <a:cs typeface="Calibri" pitchFamily="34" charset="-120"/>
              </a:rPr>
              <a:t>Versión 3.0 · septiembre de 2026 · publicado en abierto bajo licencia CC BY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idea, en una frase</a:t>
            </a:r>
            <a:endParaRPr lang="en-US" sz="3600" dirty="0"/>
          </a:p>
        </p:txBody>
      </p:sp>
      <p:sp>
        <p:nvSpPr>
          <p:cNvPr id="3" name="Text 1"/>
          <p:cNvSpPr/>
          <p:nvPr/>
        </p:nvSpPr>
        <p:spPr>
          <a:xfrm>
            <a:off x="1188720" y="1920240"/>
            <a:ext cx="9784080" cy="2011680"/>
          </a:xfrm>
          <a:prstGeom prst="rect">
            <a:avLst/>
          </a:prstGeom>
          <a:noFill/>
          <a:ln/>
        </p:spPr>
        <p:txBody>
          <a:bodyPr wrap="square" rtlCol="0" anchor="ctr"/>
          <a:lstStyle/>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Que el contrato obligue al proveedor a entregar</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capacidades concretas y comprobables durante toda su vida,</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en lugar de una promesa de «mantenerse actualizado».</a:t>
            </a:r>
            <a:endParaRPr lang="en-US" sz="2800" dirty="0"/>
          </a:p>
        </p:txBody>
      </p:sp>
      <p:sp>
        <p:nvSpPr>
          <p:cNvPr id="4" name="Shape 2"/>
          <p:cNvSpPr/>
          <p:nvPr/>
        </p:nvSpPr>
        <p:spPr>
          <a:xfrm>
            <a:off x="1188720" y="4206240"/>
            <a:ext cx="9784080" cy="1371600"/>
          </a:xfrm>
          <a:prstGeom prst="roundRect">
            <a:avLst>
              <a:gd name="adj" fmla="val 6667"/>
            </a:avLst>
          </a:prstGeom>
          <a:solidFill>
            <a:srgbClr val="EDF1F8"/>
          </a:solidFill>
          <a:ln/>
        </p:spPr>
      </p:sp>
      <p:sp>
        <p:nvSpPr>
          <p:cNvPr id="5" name="Text 3"/>
          <p:cNvSpPr/>
          <p:nvPr/>
        </p:nvSpPr>
        <p:spPr>
          <a:xfrm>
            <a:off x="1554480" y="4526280"/>
            <a:ext cx="9052560" cy="731520"/>
          </a:xfrm>
          <a:prstGeom prst="rect">
            <a:avLst/>
          </a:prstGeom>
          <a:noFill/>
          <a:ln/>
        </p:spPr>
        <p:txBody>
          <a:bodyPr wrap="square" rtlCol="0" anchor="ctr"/>
          <a:lstStyle/>
          <a:p>
            <a:pPr algn="ctr" indent="0" marL="0">
              <a:buNone/>
            </a:pPr>
            <a:r>
              <a:rPr lang="en-US" sz="2000" dirty="0">
                <a:solidFill>
                  <a:srgbClr val="1F3864"/>
                </a:solidFill>
                <a:latin typeface="Calibri" pitchFamily="34" charset="0"/>
                <a:ea typeface="Calibri" pitchFamily="34" charset="-122"/>
                <a:cs typeface="Calibri" pitchFamily="34" charset="-120"/>
              </a:rPr>
              <a:t>Y que se pueda comprobar con un acta, no con una discusión.</a:t>
            </a:r>
            <a:endParaRPr lang="en-US" sz="2000" dirty="0"/>
          </a:p>
        </p:txBody>
      </p:sp>
      <p:sp>
        <p:nvSpPr>
          <p:cNvPr id="6" name="Text 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Todo lo demás de esta presentación es la explicación de esa frase.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El problema</a:t>
            </a:r>
            <a:endParaRPr lang="en-US" sz="3600" dirty="0"/>
          </a:p>
        </p:txBody>
      </p:sp>
      <p:sp>
        <p:nvSpPr>
          <p:cNvPr id="3" name="Text 1"/>
          <p:cNvSpPr/>
          <p:nvPr/>
        </p:nvSpPr>
        <p:spPr>
          <a:xfrm>
            <a:off x="822960" y="1463040"/>
            <a:ext cx="10515600" cy="640080"/>
          </a:xfrm>
          <a:prstGeom prst="rect">
            <a:avLst/>
          </a:prstGeom>
          <a:noFill/>
          <a:ln/>
        </p:spPr>
        <p:txBody>
          <a:bodyPr wrap="square" rtlCol="0" anchor="ctr"/>
          <a:lstStyle/>
          <a:p>
            <a:pPr indent="0" marL="0">
              <a:buNone/>
            </a:pPr>
            <a:r>
              <a:rPr lang="en-US" sz="2000" dirty="0">
                <a:solidFill>
                  <a:srgbClr val="22201D"/>
                </a:solidFill>
                <a:latin typeface="Calibri" pitchFamily="34" charset="0"/>
                <a:ea typeface="Calibri" pitchFamily="34" charset="-122"/>
                <a:cs typeface="Calibri" pitchFamily="34" charset="-120"/>
              </a:rPr>
              <a:t>Un ayuntamiento contrata un sistema de gestión: tributos, padrón, contabilidad, atención al ciudadano. Da igual cuál.</a:t>
            </a:r>
            <a:endParaRPr lang="en-US" sz="2000" dirty="0"/>
          </a:p>
        </p:txBody>
      </p:sp>
      <p:sp>
        <p:nvSpPr>
          <p:cNvPr id="4" name="Shape 2"/>
          <p:cNvSpPr/>
          <p:nvPr/>
        </p:nvSpPr>
        <p:spPr>
          <a:xfrm>
            <a:off x="822960" y="2377440"/>
            <a:ext cx="3337560" cy="2240280"/>
          </a:xfrm>
          <a:prstGeom prst="roundRect">
            <a:avLst>
              <a:gd name="adj" fmla="val 4082"/>
            </a:avLst>
          </a:prstGeom>
          <a:solidFill>
            <a:srgbClr val="EDF1F8"/>
          </a:solidFill>
          <a:ln/>
        </p:spPr>
      </p:sp>
      <p:sp>
        <p:nvSpPr>
          <p:cNvPr id="5" name="Text 3"/>
          <p:cNvSpPr/>
          <p:nvPr/>
        </p:nvSpPr>
        <p:spPr>
          <a:xfrm>
            <a:off x="1097280" y="2606040"/>
            <a:ext cx="2788920" cy="411480"/>
          </a:xfrm>
          <a:prstGeom prst="rect">
            <a:avLst/>
          </a:prstGeom>
          <a:noFill/>
          <a:ln/>
        </p:spPr>
        <p:txBody>
          <a:bodyPr wrap="square" rtlCol="0" anchor="ctr"/>
          <a:lstStyle/>
          <a:p>
            <a:pPr indent="0" marL="0">
              <a:buNone/>
            </a:pPr>
            <a:r>
              <a:rPr lang="en-US" sz="1300" b="1" spc="200" kern="0" dirty="0">
                <a:solidFill>
                  <a:srgbClr val="1F3864"/>
                </a:solidFill>
                <a:latin typeface="Calibri" pitchFamily="34" charset="0"/>
                <a:ea typeface="Calibri" pitchFamily="34" charset="-122"/>
                <a:cs typeface="Calibri" pitchFamily="34" charset="-120"/>
              </a:rPr>
              <a:t>Año 0</a:t>
            </a:r>
            <a:endParaRPr lang="en-US" sz="1300" dirty="0"/>
          </a:p>
        </p:txBody>
      </p:sp>
      <p:sp>
        <p:nvSpPr>
          <p:cNvPr id="6" name="Text 4"/>
          <p:cNvSpPr/>
          <p:nvPr/>
        </p:nvSpPr>
        <p:spPr>
          <a:xfrm>
            <a:off x="109728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firma</a:t>
            </a:r>
            <a:endParaRPr lang="en-US" sz="2100" dirty="0"/>
          </a:p>
        </p:txBody>
      </p:sp>
      <p:sp>
        <p:nvSpPr>
          <p:cNvPr id="7" name="Text 5"/>
          <p:cNvSpPr/>
          <p:nvPr/>
        </p:nvSpPr>
        <p:spPr>
          <a:xfrm>
            <a:off x="109728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La herramienta está al día. El pliego es correcto.</a:t>
            </a:r>
            <a:endParaRPr lang="en-US" sz="1500" dirty="0"/>
          </a:p>
        </p:txBody>
      </p:sp>
      <p:sp>
        <p:nvSpPr>
          <p:cNvPr id="8" name="Shape 6"/>
          <p:cNvSpPr/>
          <p:nvPr/>
        </p:nvSpPr>
        <p:spPr>
          <a:xfrm>
            <a:off x="4434840" y="2377440"/>
            <a:ext cx="3337560" cy="2240280"/>
          </a:xfrm>
          <a:prstGeom prst="roundRect">
            <a:avLst>
              <a:gd name="adj" fmla="val 4082"/>
            </a:avLst>
          </a:prstGeom>
          <a:solidFill>
            <a:srgbClr val="FDF6E6"/>
          </a:solidFill>
          <a:ln/>
        </p:spPr>
      </p:sp>
      <p:sp>
        <p:nvSpPr>
          <p:cNvPr id="9" name="Text 7"/>
          <p:cNvSpPr/>
          <p:nvPr/>
        </p:nvSpPr>
        <p:spPr>
          <a:xfrm>
            <a:off x="4709160" y="2606040"/>
            <a:ext cx="2788920" cy="411480"/>
          </a:xfrm>
          <a:prstGeom prst="rect">
            <a:avLst/>
          </a:prstGeom>
          <a:noFill/>
          <a:ln/>
        </p:spPr>
        <p:txBody>
          <a:bodyPr wrap="square" rtlCol="0" anchor="ctr"/>
          <a:lstStyle/>
          <a:p>
            <a:pPr indent="0" marL="0">
              <a:buNone/>
            </a:pPr>
            <a:r>
              <a:rPr lang="en-US" sz="1300" b="1" spc="200" kern="0" dirty="0">
                <a:solidFill>
                  <a:srgbClr val="8A5A00"/>
                </a:solidFill>
                <a:latin typeface="Calibri" pitchFamily="34" charset="0"/>
                <a:ea typeface="Calibri" pitchFamily="34" charset="-122"/>
                <a:cs typeface="Calibri" pitchFamily="34" charset="-120"/>
              </a:rPr>
              <a:t>Año 2</a:t>
            </a:r>
            <a:endParaRPr lang="en-US" sz="1300" dirty="0"/>
          </a:p>
        </p:txBody>
      </p:sp>
      <p:sp>
        <p:nvSpPr>
          <p:cNvPr id="10" name="Text 8"/>
          <p:cNvSpPr/>
          <p:nvPr/>
        </p:nvSpPr>
        <p:spPr>
          <a:xfrm>
            <a:off x="470916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Aparece algo mejor</a:t>
            </a:r>
            <a:endParaRPr lang="en-US" sz="2100" dirty="0"/>
          </a:p>
        </p:txBody>
      </p:sp>
      <p:sp>
        <p:nvSpPr>
          <p:cNvPr id="11" name="Text 9"/>
          <p:cNvSpPr/>
          <p:nvPr/>
        </p:nvSpPr>
        <p:spPr>
          <a:xfrm>
            <a:off x="470916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Capacidades que al redactar el pliego no existían y nadie podía nombrar.</a:t>
            </a:r>
            <a:endParaRPr lang="en-US" sz="1500" dirty="0"/>
          </a:p>
        </p:txBody>
      </p:sp>
      <p:sp>
        <p:nvSpPr>
          <p:cNvPr id="12" name="Shape 10"/>
          <p:cNvSpPr/>
          <p:nvPr/>
        </p:nvSpPr>
        <p:spPr>
          <a:xfrm>
            <a:off x="8046720" y="2377440"/>
            <a:ext cx="3337560" cy="2240280"/>
          </a:xfrm>
          <a:prstGeom prst="roundRect">
            <a:avLst>
              <a:gd name="adj" fmla="val 4082"/>
            </a:avLst>
          </a:prstGeom>
          <a:solidFill>
            <a:srgbClr val="FBEEEC"/>
          </a:solidFill>
          <a:ln/>
        </p:spPr>
      </p:sp>
      <p:sp>
        <p:nvSpPr>
          <p:cNvPr id="13" name="Text 11"/>
          <p:cNvSpPr/>
          <p:nvPr/>
        </p:nvSpPr>
        <p:spPr>
          <a:xfrm>
            <a:off x="8321040" y="2606040"/>
            <a:ext cx="2788920" cy="411480"/>
          </a:xfrm>
          <a:prstGeom prst="rect">
            <a:avLst/>
          </a:prstGeom>
          <a:noFill/>
          <a:ln/>
        </p:spPr>
        <p:txBody>
          <a:bodyPr wrap="square" rtlCol="0" anchor="ctr"/>
          <a:lstStyle/>
          <a:p>
            <a:pPr indent="0" marL="0">
              <a:buNone/>
            </a:pPr>
            <a:r>
              <a:rPr lang="en-US" sz="1300" b="1" spc="200" kern="0" dirty="0">
                <a:solidFill>
                  <a:srgbClr val="9A3324"/>
                </a:solidFill>
                <a:latin typeface="Calibri" pitchFamily="34" charset="0"/>
                <a:ea typeface="Calibri" pitchFamily="34" charset="-122"/>
                <a:cs typeface="Calibri" pitchFamily="34" charset="-120"/>
              </a:rPr>
              <a:t>Año 5</a:t>
            </a:r>
            <a:endParaRPr lang="en-US" sz="1300" dirty="0"/>
          </a:p>
        </p:txBody>
      </p:sp>
      <p:sp>
        <p:nvSpPr>
          <p:cNvPr id="14" name="Text 12"/>
          <p:cNvSpPr/>
          <p:nvPr/>
        </p:nvSpPr>
        <p:spPr>
          <a:xfrm>
            <a:off x="832104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acaba el contrato</a:t>
            </a:r>
            <a:endParaRPr lang="en-US" sz="2100" dirty="0"/>
          </a:p>
        </p:txBody>
      </p:sp>
      <p:sp>
        <p:nvSpPr>
          <p:cNvPr id="15" name="Text 13"/>
          <p:cNvSpPr/>
          <p:nvPr/>
        </p:nvSpPr>
        <p:spPr>
          <a:xfrm>
            <a:off x="832104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Cinco años de servicio público prestado con herramientas de otra época.</a:t>
            </a:r>
            <a:endParaRPr lang="en-US" sz="15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Nadie ha hecho nada mal por el camino. Es un defecto de diseño del contrato.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A los dos años sólo hay tres salidas, y las tres cuestan dinero público</a:t>
            </a:r>
            <a:endParaRPr lang="en-US" sz="3600" dirty="0"/>
          </a:p>
        </p:txBody>
      </p:sp>
      <p:sp>
        <p:nvSpPr>
          <p:cNvPr id="3" name="Shape 1"/>
          <p:cNvSpPr/>
          <p:nvPr/>
        </p:nvSpPr>
        <p:spPr>
          <a:xfrm>
            <a:off x="822960" y="1828800"/>
            <a:ext cx="3337560" cy="2697480"/>
          </a:xfrm>
          <a:prstGeom prst="roundRect">
            <a:avLst>
              <a:gd name="adj" fmla="val 3390"/>
            </a:avLst>
          </a:prstGeom>
          <a:solidFill>
            <a:srgbClr val="EDF1F8"/>
          </a:solidFill>
          <a:ln/>
        </p:spPr>
      </p:sp>
      <p:sp>
        <p:nvSpPr>
          <p:cNvPr id="4" name="Text 2"/>
          <p:cNvSpPr/>
          <p:nvPr/>
        </p:nvSpPr>
        <p:spPr>
          <a:xfrm>
            <a:off x="109728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1</a:t>
            </a:r>
            <a:endParaRPr lang="en-US" sz="3000" dirty="0"/>
          </a:p>
        </p:txBody>
      </p:sp>
      <p:sp>
        <p:nvSpPr>
          <p:cNvPr id="5" name="Text 3"/>
          <p:cNvSpPr/>
          <p:nvPr/>
        </p:nvSpPr>
        <p:spPr>
          <a:xfrm>
            <a:off x="109728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paga dos veces</a:t>
            </a:r>
            <a:endParaRPr lang="en-US" sz="2000" dirty="0"/>
          </a:p>
        </p:txBody>
      </p:sp>
      <p:sp>
        <p:nvSpPr>
          <p:cNvPr id="6" name="Text 4"/>
          <p:cNvSpPr/>
          <p:nvPr/>
        </p:nvSpPr>
        <p:spPr>
          <a:xfrm>
            <a:off x="109728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saca un contrato nuevo para «modernizar» lo que ya se compró. La misma función, otra vez facturada.</a:t>
            </a:r>
            <a:endParaRPr lang="en-US" sz="1500" dirty="0"/>
          </a:p>
        </p:txBody>
      </p:sp>
      <p:sp>
        <p:nvSpPr>
          <p:cNvPr id="7" name="Shape 5"/>
          <p:cNvSpPr/>
          <p:nvPr/>
        </p:nvSpPr>
        <p:spPr>
          <a:xfrm>
            <a:off x="4434840" y="1828800"/>
            <a:ext cx="3337560" cy="2697480"/>
          </a:xfrm>
          <a:prstGeom prst="roundRect">
            <a:avLst>
              <a:gd name="adj" fmla="val 3390"/>
            </a:avLst>
          </a:prstGeom>
          <a:solidFill>
            <a:srgbClr val="EDF1F8"/>
          </a:solidFill>
          <a:ln/>
        </p:spPr>
      </p:sp>
      <p:sp>
        <p:nvSpPr>
          <p:cNvPr id="8" name="Text 6"/>
          <p:cNvSpPr/>
          <p:nvPr/>
        </p:nvSpPr>
        <p:spPr>
          <a:xfrm>
            <a:off x="470916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2</a:t>
            </a:r>
            <a:endParaRPr lang="en-US" sz="3000" dirty="0"/>
          </a:p>
        </p:txBody>
      </p:sp>
      <p:sp>
        <p:nvSpPr>
          <p:cNvPr id="9" name="Text 7"/>
          <p:cNvSpPr/>
          <p:nvPr/>
        </p:nvSpPr>
        <p:spPr>
          <a:xfrm>
            <a:off x="470916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aguanta</a:t>
            </a:r>
            <a:endParaRPr lang="en-US" sz="2000" dirty="0"/>
          </a:p>
        </p:txBody>
      </p:sp>
      <p:sp>
        <p:nvSpPr>
          <p:cNvPr id="10" name="Text 8"/>
          <p:cNvSpPr/>
          <p:nvPr/>
        </p:nvSpPr>
        <p:spPr>
          <a:xfrm>
            <a:off x="470916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espera al final del contrato prestando el servicio con lo que hay.</a:t>
            </a:r>
            <a:endParaRPr lang="en-US" sz="1500" dirty="0"/>
          </a:p>
        </p:txBody>
      </p:sp>
      <p:sp>
        <p:nvSpPr>
          <p:cNvPr id="11" name="Shape 9"/>
          <p:cNvSpPr/>
          <p:nvPr/>
        </p:nvSpPr>
        <p:spPr>
          <a:xfrm>
            <a:off x="8046720" y="1828800"/>
            <a:ext cx="3337560" cy="2697480"/>
          </a:xfrm>
          <a:prstGeom prst="roundRect">
            <a:avLst>
              <a:gd name="adj" fmla="val 3390"/>
            </a:avLst>
          </a:prstGeom>
          <a:solidFill>
            <a:srgbClr val="EDF1F8"/>
          </a:solidFill>
          <a:ln/>
        </p:spPr>
      </p:sp>
      <p:sp>
        <p:nvSpPr>
          <p:cNvPr id="12" name="Text 10"/>
          <p:cNvSpPr/>
          <p:nvPr/>
        </p:nvSpPr>
        <p:spPr>
          <a:xfrm>
            <a:off x="832104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3</a:t>
            </a:r>
            <a:endParaRPr lang="en-US" sz="3000" dirty="0"/>
          </a:p>
        </p:txBody>
      </p:sp>
      <p:sp>
        <p:nvSpPr>
          <p:cNvPr id="13" name="Text 11"/>
          <p:cNvSpPr/>
          <p:nvPr/>
        </p:nvSpPr>
        <p:spPr>
          <a:xfrm>
            <a:off x="832104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queda cautivo</a:t>
            </a:r>
            <a:endParaRPr lang="en-US" sz="2000" dirty="0"/>
          </a:p>
        </p:txBody>
      </p:sp>
      <p:sp>
        <p:nvSpPr>
          <p:cNvPr id="14" name="Text 12"/>
          <p:cNvSpPr/>
          <p:nvPr/>
        </p:nvSpPr>
        <p:spPr>
          <a:xfrm>
            <a:off x="832104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Cambiar de proveedor obligaría a dejar atrás los datos y los desarrollos propios. Sale tan caro que no se cambia.</a:t>
            </a:r>
            <a:endParaRPr lang="en-US" sz="1500" dirty="0"/>
          </a:p>
        </p:txBody>
      </p:sp>
      <p:sp>
        <p:nvSpPr>
          <p:cNvPr id="15" name="Text 13"/>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 tercera es la peor: la licitación siguiente está decidida antes de publicarse.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«Que se comprometa a mantenerlo actualizado» no sirve</a:t>
            </a:r>
            <a:endParaRPr lang="en-US" sz="3600" dirty="0"/>
          </a:p>
        </p:txBody>
      </p:sp>
      <p:sp>
        <p:nvSpPr>
          <p:cNvPr id="3" name="Text 1"/>
          <p:cNvSpPr/>
          <p:nvPr/>
        </p:nvSpPr>
        <p:spPr>
          <a:xfrm>
            <a:off x="822960" y="1417320"/>
            <a:ext cx="10515600" cy="45720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Suena razonable. Es lo primero que uno escribiría. Y no funciona por tres motivos:</a:t>
            </a:r>
            <a:endParaRPr lang="en-US" sz="1800" dirty="0"/>
          </a:p>
        </p:txBody>
      </p:sp>
      <p:sp>
        <p:nvSpPr>
          <p:cNvPr id="4" name="Shape 2"/>
          <p:cNvSpPr/>
          <p:nvPr/>
        </p:nvSpPr>
        <p:spPr>
          <a:xfrm>
            <a:off x="822960" y="2103120"/>
            <a:ext cx="82296" cy="987552"/>
          </a:xfrm>
          <a:prstGeom prst="rect">
            <a:avLst/>
          </a:prstGeom>
          <a:solidFill>
            <a:srgbClr val="1F3864"/>
          </a:solidFill>
          <a:ln/>
        </p:spPr>
      </p:sp>
      <p:sp>
        <p:nvSpPr>
          <p:cNvPr id="5" name="Text 3"/>
          <p:cNvSpPr/>
          <p:nvPr/>
        </p:nvSpPr>
        <p:spPr>
          <a:xfrm>
            <a:off x="1143000" y="2103120"/>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empresa no puede ponerle precio</a:t>
            </a:r>
            <a:endParaRPr lang="en-US" sz="1900" dirty="0"/>
          </a:p>
        </p:txBody>
      </p:sp>
      <p:sp>
        <p:nvSpPr>
          <p:cNvPr id="6" name="Text 4"/>
          <p:cNvSpPr/>
          <p:nvPr/>
        </p:nvSpPr>
        <p:spPr>
          <a:xfrm>
            <a:off x="5212080" y="2103120"/>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Se le pide algo cuyo contenido nadie conoce todavía. O infla la oferta por si acaso, o la ignora y ya discutirá durante la ejecución.</a:t>
            </a:r>
            <a:endParaRPr lang="en-US" sz="1550" dirty="0"/>
          </a:p>
        </p:txBody>
      </p:sp>
      <p:sp>
        <p:nvSpPr>
          <p:cNvPr id="7" name="Shape 5"/>
          <p:cNvSpPr/>
          <p:nvPr/>
        </p:nvSpPr>
        <p:spPr>
          <a:xfrm>
            <a:off x="822960" y="3310128"/>
            <a:ext cx="82296" cy="987552"/>
          </a:xfrm>
          <a:prstGeom prst="rect">
            <a:avLst/>
          </a:prstGeom>
          <a:solidFill>
            <a:srgbClr val="1F3864"/>
          </a:solidFill>
          <a:ln/>
        </p:spPr>
      </p:sp>
      <p:sp>
        <p:nvSpPr>
          <p:cNvPr id="8" name="Text 6"/>
          <p:cNvSpPr/>
          <p:nvPr/>
        </p:nvSpPr>
        <p:spPr>
          <a:xfrm>
            <a:off x="1143000" y="3310128"/>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administración no puede exigirlo</a:t>
            </a:r>
            <a:endParaRPr lang="en-US" sz="1900" dirty="0"/>
          </a:p>
        </p:txBody>
      </p:sp>
      <p:sp>
        <p:nvSpPr>
          <p:cNvPr id="9" name="Text 7"/>
          <p:cNvSpPr/>
          <p:nvPr/>
        </p:nvSpPr>
        <p:spPr>
          <a:xfrm>
            <a:off x="5212080" y="3310128"/>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Demostrar que una tecnología concreta «era necesaria» es una apreciación técnica que no se sostiene frente a un contratista bien asesorado.</a:t>
            </a:r>
            <a:endParaRPr lang="en-US" sz="1550" dirty="0"/>
          </a:p>
        </p:txBody>
      </p:sp>
      <p:sp>
        <p:nvSpPr>
          <p:cNvPr id="10" name="Shape 8"/>
          <p:cNvSpPr/>
          <p:nvPr/>
        </p:nvSpPr>
        <p:spPr>
          <a:xfrm>
            <a:off x="822960" y="4517136"/>
            <a:ext cx="82296" cy="987552"/>
          </a:xfrm>
          <a:prstGeom prst="rect">
            <a:avLst/>
          </a:prstGeom>
          <a:solidFill>
            <a:srgbClr val="1F3864"/>
          </a:solidFill>
          <a:ln/>
        </p:spPr>
      </p:sp>
      <p:sp>
        <p:nvSpPr>
          <p:cNvPr id="11" name="Text 9"/>
          <p:cNvSpPr/>
          <p:nvPr/>
        </p:nvSpPr>
        <p:spPr>
          <a:xfrm>
            <a:off x="1143000" y="4517136"/>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Y un tribunal la anula</a:t>
            </a:r>
            <a:endParaRPr lang="en-US" sz="1900" dirty="0"/>
          </a:p>
        </p:txBody>
      </p:sp>
      <p:sp>
        <p:nvSpPr>
          <p:cNvPr id="12" name="Text 10"/>
          <p:cNvSpPr/>
          <p:nvPr/>
        </p:nvSpPr>
        <p:spPr>
          <a:xfrm>
            <a:off x="5212080" y="4517136"/>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Una obligación genérica no puede ser ni siquiera una obligación contractual, y menos aún una cuyo incumplimiento permita resolver el contrato.</a:t>
            </a:r>
            <a:endParaRPr lang="en-US" sz="1550" dirty="0"/>
          </a:p>
        </p:txBody>
      </p:sp>
      <p:sp>
        <p:nvSpPr>
          <p:cNvPr id="13" name="Text 11"/>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El clausulado que no se puede exigir es peor que no tener clausulado: da falsa seguridad.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vuelta de tuerca</a:t>
            </a:r>
            <a:endParaRPr lang="en-US" sz="3600" dirty="0"/>
          </a:p>
        </p:txBody>
      </p:sp>
      <p:sp>
        <p:nvSpPr>
          <p:cNvPr id="3" name="Text 1"/>
          <p:cNvSpPr/>
          <p:nvPr/>
        </p:nvSpPr>
        <p:spPr>
          <a:xfrm>
            <a:off x="822960" y="1463040"/>
            <a:ext cx="10515600" cy="457200"/>
          </a:xfrm>
          <a:prstGeom prst="rect">
            <a:avLst/>
          </a:prstGeom>
          <a:noFill/>
          <a:ln/>
        </p:spPr>
        <p:txBody>
          <a:bodyPr wrap="square" rtlCol="0" anchor="ctr"/>
          <a:lstStyle/>
          <a:p>
            <a:pPr indent="0" marL="0">
              <a:buNone/>
            </a:pPr>
            <a:r>
              <a:rPr lang="en-US" sz="1900" dirty="0">
                <a:solidFill>
                  <a:srgbClr val="6E6A63"/>
                </a:solidFill>
                <a:latin typeface="Calibri" pitchFamily="34" charset="0"/>
                <a:ea typeface="Calibri" pitchFamily="34" charset="-122"/>
                <a:cs typeface="Calibri" pitchFamily="34" charset="-120"/>
              </a:rPr>
              <a:t>En lugar de comprar una evolución futura indefinida…</a:t>
            </a:r>
            <a:endParaRPr lang="en-US" sz="1900" dirty="0"/>
          </a:p>
        </p:txBody>
      </p:sp>
      <p:sp>
        <p:nvSpPr>
          <p:cNvPr id="4" name="Shape 2"/>
          <p:cNvSpPr/>
          <p:nvPr/>
        </p:nvSpPr>
        <p:spPr>
          <a:xfrm>
            <a:off x="822960" y="2011680"/>
            <a:ext cx="10515600" cy="1737360"/>
          </a:xfrm>
          <a:prstGeom prst="roundRect">
            <a:avLst>
              <a:gd name="adj" fmla="val 5263"/>
            </a:avLst>
          </a:prstGeom>
          <a:solidFill>
            <a:srgbClr val="EFF5F0"/>
          </a:solidFill>
          <a:ln/>
        </p:spPr>
      </p:sp>
      <p:sp>
        <p:nvSpPr>
          <p:cNvPr id="5" name="Text 3"/>
          <p:cNvSpPr/>
          <p:nvPr/>
        </p:nvSpPr>
        <p:spPr>
          <a:xfrm>
            <a:off x="1280160" y="2286000"/>
            <a:ext cx="9601200" cy="1188720"/>
          </a:xfrm>
          <a:prstGeom prst="rect">
            <a:avLst/>
          </a:prstGeom>
          <a:noFill/>
          <a:ln/>
        </p:spPr>
        <p:txBody>
          <a:bodyPr wrap="square" rtlCol="0" anchor="ctr"/>
          <a:lstStyle/>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…se compran capacidades concretas, con plazo y con criterios de aceptación</a:t>
            </a:r>
            <a:endParaRPr lang="en-US" sz="2300" dirty="0"/>
          </a:p>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verificables, fijadas al licitar y revisadas cada año para las licitaciones siguientes.</a:t>
            </a:r>
            <a:endParaRPr lang="en-US" sz="2300" dirty="0"/>
          </a:p>
        </p:txBody>
      </p:sp>
      <p:sp>
        <p:nvSpPr>
          <p:cNvPr id="6" name="Text 4"/>
          <p:cNvSpPr/>
          <p:nvPr/>
        </p:nvSpPr>
        <p:spPr>
          <a:xfrm>
            <a:off x="82296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empresa</a:t>
            </a:r>
            <a:endParaRPr lang="en-US" sz="1900" dirty="0"/>
          </a:p>
        </p:txBody>
      </p:sp>
      <p:sp>
        <p:nvSpPr>
          <p:cNvPr id="7" name="Text 5"/>
          <p:cNvSpPr/>
          <p:nvPr/>
        </p:nvSpPr>
        <p:spPr>
          <a:xfrm>
            <a:off x="82296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está ofertando, y puede ponerle precio.</a:t>
            </a:r>
            <a:endParaRPr lang="en-US" sz="1550" dirty="0"/>
          </a:p>
        </p:txBody>
      </p:sp>
      <p:sp>
        <p:nvSpPr>
          <p:cNvPr id="8" name="Text 6"/>
          <p:cNvSpPr/>
          <p:nvPr/>
        </p:nvSpPr>
        <p:spPr>
          <a:xfrm>
            <a:off x="443484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administración</a:t>
            </a:r>
            <a:endParaRPr lang="en-US" sz="1900" dirty="0"/>
          </a:p>
        </p:txBody>
      </p:sp>
      <p:sp>
        <p:nvSpPr>
          <p:cNvPr id="9" name="Text 7"/>
          <p:cNvSpPr/>
          <p:nvPr/>
        </p:nvSpPr>
        <p:spPr>
          <a:xfrm>
            <a:off x="443484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puede exigir, y cuándo.</a:t>
            </a:r>
            <a:endParaRPr lang="en-US" sz="1550" dirty="0"/>
          </a:p>
        </p:txBody>
      </p:sp>
      <p:sp>
        <p:nvSpPr>
          <p:cNvPr id="10" name="Text 8"/>
          <p:cNvSpPr/>
          <p:nvPr/>
        </p:nvSpPr>
        <p:spPr>
          <a:xfrm>
            <a:off x="804672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El tribunal</a:t>
            </a:r>
            <a:endParaRPr lang="en-US" sz="1900" dirty="0"/>
          </a:p>
        </p:txBody>
      </p:sp>
      <p:sp>
        <p:nvSpPr>
          <p:cNvPr id="11" name="Text 9"/>
          <p:cNvSpPr/>
          <p:nvPr/>
        </p:nvSpPr>
        <p:spPr>
          <a:xfrm>
            <a:off x="804672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no tiene nada indeterminado que anular.</a:t>
            </a:r>
            <a:endParaRPr lang="en-US" sz="1550" dirty="0"/>
          </a:p>
        </p:txBody>
      </p:sp>
      <p:sp>
        <p:nvSpPr>
          <p:cNvPr id="12" name="Text 10"/>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Lo que no se pueda concretar hoy, se concreta el año que viene, en la licitación siguiente.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otra mitad del problema: de quién son los datos</a:t>
            </a:r>
            <a:endParaRPr lang="en-US" sz="3600" dirty="0"/>
          </a:p>
        </p:txBody>
      </p:sp>
      <p:sp>
        <p:nvSpPr>
          <p:cNvPr id="3" name="Text 1"/>
          <p:cNvSpPr/>
          <p:nvPr/>
        </p:nvSpPr>
        <p:spPr>
          <a:xfrm>
            <a:off x="822960" y="1417320"/>
            <a:ext cx="10515600" cy="73152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Un pliego puede restringir la competencia de dos maneras. La conocida es escribirlo a medida de un proveedor. La otra es más silenciosa:</a:t>
            </a:r>
            <a:endParaRPr lang="en-US" sz="1800" dirty="0"/>
          </a:p>
        </p:txBody>
      </p:sp>
      <p:sp>
        <p:nvSpPr>
          <p:cNvPr id="4" name="Shape 2"/>
          <p:cNvSpPr/>
          <p:nvPr/>
        </p:nvSpPr>
        <p:spPr>
          <a:xfrm>
            <a:off x="822960" y="2286000"/>
            <a:ext cx="10515600" cy="1234440"/>
          </a:xfrm>
          <a:prstGeom prst="roundRect">
            <a:avLst>
              <a:gd name="adj" fmla="val 7407"/>
            </a:avLst>
          </a:prstGeom>
          <a:solidFill>
            <a:srgbClr val="FDF6E6"/>
          </a:solidFill>
          <a:ln/>
        </p:spPr>
      </p:sp>
      <p:sp>
        <p:nvSpPr>
          <p:cNvPr id="5" name="Text 3"/>
          <p:cNvSpPr/>
          <p:nvPr/>
        </p:nvSpPr>
        <p:spPr>
          <a:xfrm>
            <a:off x="1234440" y="2514600"/>
            <a:ext cx="9692640" cy="82296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Si al terminar el contrato los datos, los desarrollos y la lógica de negocio se quedan con el proveedor saliente, cambiar de empresa es tan caro que nadie cambia.</a:t>
            </a:r>
            <a:endParaRPr lang="en-US" sz="1800" dirty="0"/>
          </a:p>
        </p:txBody>
      </p:sp>
      <p:sp>
        <p:nvSpPr>
          <p:cNvPr id="6" name="Text 4"/>
          <p:cNvSpPr/>
          <p:nvPr/>
        </p:nvSpPr>
        <p:spPr>
          <a:xfrm>
            <a:off x="822960" y="3794760"/>
            <a:ext cx="10515600" cy="411480"/>
          </a:xfrm>
          <a:prstGeom prst="rect">
            <a:avLst/>
          </a:prstGeom>
          <a:noFill/>
          <a:ln/>
        </p:spPr>
        <p:txBody>
          <a:bodyPr wrap="square" rtlCol="0" anchor="ctr"/>
          <a:lstStyle/>
          <a:p>
            <a:pPr indent="0" marL="0">
              <a:buNone/>
            </a:pPr>
            <a:r>
              <a:rPr lang="en-US" sz="1700" dirty="0">
                <a:solidFill>
                  <a:srgbClr val="6E6A63"/>
                </a:solidFill>
                <a:latin typeface="Calibri" pitchFamily="34" charset="0"/>
                <a:ea typeface="Calibri" pitchFamily="34" charset="-122"/>
                <a:cs typeface="Calibri" pitchFamily="34" charset="-120"/>
              </a:rPr>
              <a:t>Por eso una parte central del clausulado no habla de inteligencia artificial:</a:t>
            </a:r>
            <a:endParaRPr lang="en-US" sz="1700" dirty="0"/>
          </a:p>
        </p:txBody>
      </p:sp>
      <p:sp>
        <p:nvSpPr>
          <p:cNvPr id="7" name="Shape 5"/>
          <p:cNvSpPr/>
          <p:nvPr/>
        </p:nvSpPr>
        <p:spPr>
          <a:xfrm>
            <a:off x="822960" y="4297680"/>
            <a:ext cx="3337560" cy="1371600"/>
          </a:xfrm>
          <a:prstGeom prst="roundRect">
            <a:avLst>
              <a:gd name="adj" fmla="val 6667"/>
            </a:avLst>
          </a:prstGeom>
          <a:solidFill>
            <a:srgbClr val="EFF5F0"/>
          </a:solidFill>
          <a:ln/>
        </p:spPr>
      </p:sp>
      <p:sp>
        <p:nvSpPr>
          <p:cNvPr id="8" name="Text 6"/>
          <p:cNvSpPr/>
          <p:nvPr/>
        </p:nvSpPr>
        <p:spPr>
          <a:xfrm>
            <a:off x="109728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datos</a:t>
            </a:r>
            <a:endParaRPr lang="en-US" sz="1700" dirty="0"/>
          </a:p>
        </p:txBody>
      </p:sp>
      <p:sp>
        <p:nvSpPr>
          <p:cNvPr id="9" name="Text 7"/>
          <p:cNvSpPr/>
          <p:nvPr/>
        </p:nvSpPr>
        <p:spPr>
          <a:xfrm>
            <a:off x="109728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y en qué formato se devuelven</a:t>
            </a:r>
            <a:endParaRPr lang="en-US" sz="1400" dirty="0"/>
          </a:p>
        </p:txBody>
      </p:sp>
      <p:sp>
        <p:nvSpPr>
          <p:cNvPr id="10" name="Shape 8"/>
          <p:cNvSpPr/>
          <p:nvPr/>
        </p:nvSpPr>
        <p:spPr>
          <a:xfrm>
            <a:off x="4434840" y="4297680"/>
            <a:ext cx="3337560" cy="1371600"/>
          </a:xfrm>
          <a:prstGeom prst="roundRect">
            <a:avLst>
              <a:gd name="adj" fmla="val 6667"/>
            </a:avLst>
          </a:prstGeom>
          <a:solidFill>
            <a:srgbClr val="EFF5F0"/>
          </a:solidFill>
          <a:ln/>
        </p:spPr>
      </p:sp>
      <p:sp>
        <p:nvSpPr>
          <p:cNvPr id="11" name="Text 9"/>
          <p:cNvSpPr/>
          <p:nvPr/>
        </p:nvSpPr>
        <p:spPr>
          <a:xfrm>
            <a:off x="470916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algoritmos</a:t>
            </a:r>
            <a:endParaRPr lang="en-US" sz="1700" dirty="0"/>
          </a:p>
        </p:txBody>
      </p:sp>
      <p:sp>
        <p:nvSpPr>
          <p:cNvPr id="12" name="Text 10"/>
          <p:cNvSpPr/>
          <p:nvPr/>
        </p:nvSpPr>
        <p:spPr>
          <a:xfrm>
            <a:off x="470916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hechos a medida para la administración</a:t>
            </a:r>
            <a:endParaRPr lang="en-US" sz="1400" dirty="0"/>
          </a:p>
        </p:txBody>
      </p:sp>
      <p:sp>
        <p:nvSpPr>
          <p:cNvPr id="13" name="Shape 11"/>
          <p:cNvSpPr/>
          <p:nvPr/>
        </p:nvSpPr>
        <p:spPr>
          <a:xfrm>
            <a:off x="8046720" y="4297680"/>
            <a:ext cx="3337560" cy="1371600"/>
          </a:xfrm>
          <a:prstGeom prst="roundRect">
            <a:avLst>
              <a:gd name="adj" fmla="val 6667"/>
            </a:avLst>
          </a:prstGeom>
          <a:solidFill>
            <a:srgbClr val="EFF5F0"/>
          </a:solidFill>
          <a:ln/>
        </p:spPr>
      </p:sp>
      <p:sp>
        <p:nvSpPr>
          <p:cNvPr id="14" name="Text 12"/>
          <p:cNvSpPr/>
          <p:nvPr/>
        </p:nvSpPr>
        <p:spPr>
          <a:xfrm>
            <a:off x="832104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Qué se entrega al terminar</a:t>
            </a:r>
            <a:endParaRPr lang="en-US" sz="1700" dirty="0"/>
          </a:p>
        </p:txBody>
      </p:sp>
      <p:sp>
        <p:nvSpPr>
          <p:cNvPr id="15" name="Text 13"/>
          <p:cNvSpPr/>
          <p:nvPr/>
        </p:nvSpPr>
        <p:spPr>
          <a:xfrm>
            <a:off x="832104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en qué plazo, y quién comprueba que funciona</a:t>
            </a:r>
            <a:endParaRPr lang="en-US" sz="14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Un pliego que restringe la competencia no es más exigente: es más frágil.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Lo que este documento NO promete</a:t>
            </a:r>
            <a:endParaRPr lang="en-US" sz="3600" dirty="0"/>
          </a:p>
        </p:txBody>
      </p:sp>
      <p:sp>
        <p:nvSpPr>
          <p:cNvPr id="3" name="Shape 1"/>
          <p:cNvSpPr/>
          <p:nvPr/>
        </p:nvSpPr>
        <p:spPr>
          <a:xfrm>
            <a:off x="822960" y="1554480"/>
            <a:ext cx="10515600" cy="1371600"/>
          </a:xfrm>
          <a:prstGeom prst="roundRect">
            <a:avLst>
              <a:gd name="adj" fmla="val 6667"/>
            </a:avLst>
          </a:prstGeom>
          <a:solidFill>
            <a:srgbClr val="FDF6E6"/>
          </a:solidFill>
          <a:ln/>
        </p:spPr>
      </p:sp>
      <p:sp>
        <p:nvSpPr>
          <p:cNvPr id="4" name="Text 2"/>
          <p:cNvSpPr/>
          <p:nvPr/>
        </p:nvSpPr>
        <p:spPr>
          <a:xfrm>
            <a:off x="1234440" y="1783080"/>
            <a:ext cx="9692640" cy="914400"/>
          </a:xfrm>
          <a:prstGeom prst="rect">
            <a:avLst/>
          </a:prstGeom>
          <a:noFill/>
          <a:ln/>
        </p:spPr>
        <p:txBody>
          <a:bodyPr wrap="square" rtlCol="0" anchor="ctr"/>
          <a:lstStyle/>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se promete que ningún tribunal pueda anular nada.</a:t>
            </a:r>
            <a:endParaRPr lang="en-US" sz="2000" dirty="0"/>
          </a:p>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es prometible: aún no existe doctrina sobre cláusulas de IA en contratación pública.</a:t>
            </a:r>
            <a:endParaRPr lang="en-US" sz="2000" dirty="0"/>
          </a:p>
        </p:txBody>
      </p:sp>
      <p:sp>
        <p:nvSpPr>
          <p:cNvPr id="5" name="Text 3"/>
          <p:cNvSpPr/>
          <p:nvPr/>
        </p:nvSpPr>
        <p:spPr>
          <a:xfrm>
            <a:off x="822960" y="3200400"/>
            <a:ext cx="10515600" cy="457200"/>
          </a:xfrm>
          <a:prstGeom prst="rect">
            <a:avLst/>
          </a:prstGeom>
          <a:noFill/>
          <a:ln/>
        </p:spPr>
        <p:txBody>
          <a:bodyPr wrap="square" rtlCol="0" anchor="ctr"/>
          <a:lstStyle/>
          <a:p>
            <a:pPr indent="0" marL="0">
              <a:buNone/>
            </a:pPr>
            <a:r>
              <a:rPr lang="en-US" sz="1800" b="1" dirty="0">
                <a:solidFill>
                  <a:srgbClr val="1F3864"/>
                </a:solidFill>
                <a:latin typeface="Calibri" pitchFamily="34" charset="0"/>
                <a:ea typeface="Calibri" pitchFamily="34" charset="-122"/>
                <a:cs typeface="Calibri" pitchFamily="34" charset="-120"/>
              </a:rPr>
              <a:t>Lo que sí está diseñado, y se puede comprobar cláusula por cláusula:</a:t>
            </a:r>
            <a:endParaRPr lang="en-US" sz="1800" dirty="0"/>
          </a:p>
        </p:txBody>
      </p:sp>
      <p:sp>
        <p:nvSpPr>
          <p:cNvPr id="6" name="Text 4"/>
          <p:cNvSpPr/>
          <p:nvPr/>
        </p:nvSpPr>
        <p:spPr>
          <a:xfrm>
            <a:off x="1097280" y="3749040"/>
            <a:ext cx="10058400" cy="2011680"/>
          </a:xfrm>
          <a:prstGeom prst="rect">
            <a:avLst/>
          </a:prstGeom>
          <a:noFill/>
          <a:ln/>
        </p:spPr>
        <p:txBody>
          <a:bodyPr wrap="square" rtlCol="0" anchor="ctr"/>
          <a:lstStyle/>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necesidad identificada, y la norma o el acuerdo que la impone;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instrumento correcto, y sólo uno, para que nada se puntúe dos veces;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medio de acreditación y una forma de verificación, con quién la hace y cuánto cuesta;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consecuencia tasada si se incumple, proporcionada y dentro de los límites legales;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y una regla de separabilidad: si cae una pieza, no arrastra el pliego entero.</a:t>
            </a:r>
            <a:endParaRPr lang="en-US" sz="1700" dirty="0"/>
          </a:p>
        </p:txBody>
      </p:sp>
      <p:sp>
        <p:nvSpPr>
          <p:cNvPr id="7" name="Text 5"/>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Prometer que algo es inanulable destruye su credibilidad ante quien tiene que firmarlo.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De dónde sale: un problema real y cuatro dificultades</a:t>
            </a:r>
            <a:endParaRPr lang="en-US" sz="3600" dirty="0"/>
          </a:p>
        </p:txBody>
      </p:sp>
      <p:sp>
        <p:nvSpPr>
          <p:cNvPr id="3" name="Text 1"/>
          <p:cNvSpPr/>
          <p:nvPr/>
        </p:nvSpPr>
        <p:spPr>
          <a:xfrm>
            <a:off x="822960" y="1417320"/>
            <a:ext cx="10515600" cy="822960"/>
          </a:xfrm>
          <a:prstGeom prst="rect">
            <a:avLst/>
          </a:prstGeom>
          <a:noFill/>
          <a:ln/>
        </p:spPr>
        <p:txBody>
          <a:bodyPr wrap="square" rtlCol="0" anchor="ctr"/>
          <a:lstStyle/>
          <a:p>
            <a:pPr indent="0" marL="0">
              <a:buNone/>
            </a:pPr>
            <a:r>
              <a:rPr lang="en-US" sz="1750" dirty="0">
                <a:solidFill>
                  <a:srgbClr val="22201D"/>
                </a:solidFill>
                <a:latin typeface="Calibri" pitchFamily="34" charset="0"/>
                <a:ea typeface="Calibri" pitchFamily="34" charset="-122"/>
                <a:cs typeface="Calibri" pitchFamily="34" charset="-120"/>
              </a:rPr>
              <a:t>El clausulado nació en el Ayuntamiento de Pozuelo de Alarcón en 2026. Su memoria empieza nombrando, sin suavizarlas, las cuatro dificultades que quienes lo han trabajado han observado que suceden en la contratación pública.</a:t>
            </a:r>
            <a:endParaRPr lang="en-US" sz="1750" dirty="0"/>
          </a:p>
        </p:txBody>
      </p:sp>
      <p:sp>
        <p:nvSpPr>
          <p:cNvPr id="4" name="Shape 2"/>
          <p:cNvSpPr/>
          <p:nvPr/>
        </p:nvSpPr>
        <p:spPr>
          <a:xfrm>
            <a:off x="822960" y="2240280"/>
            <a:ext cx="10515600" cy="841248"/>
          </a:xfrm>
          <a:prstGeom prst="roundRect">
            <a:avLst>
              <a:gd name="adj" fmla="val 10870"/>
            </a:avLst>
          </a:prstGeom>
          <a:solidFill>
            <a:srgbClr val="EDF1F8"/>
          </a:solidFill>
          <a:ln/>
        </p:spPr>
      </p:sp>
      <p:sp>
        <p:nvSpPr>
          <p:cNvPr id="5" name="Text 3"/>
          <p:cNvSpPr/>
          <p:nvPr/>
        </p:nvSpPr>
        <p:spPr>
          <a:xfrm>
            <a:off x="1051560" y="2295144"/>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La necesidad no la demanda aún el gestor</a:t>
            </a:r>
            <a:endParaRPr lang="en-US" sz="1450" dirty="0"/>
          </a:p>
        </p:txBody>
      </p:sp>
      <p:sp>
        <p:nvSpPr>
          <p:cNvPr id="6" name="Text 4"/>
          <p:cNvSpPr/>
          <p:nvPr/>
        </p:nvSpPr>
        <p:spPr>
          <a:xfrm>
            <a:off x="4023360" y="2295144"/>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Cada cláusula lleva el origen de su necesidad: una norma, el servicio gestor, o un acuerdo del órgano de gobierno. Lo que no tiene ninguno de los tres, no entra.</a:t>
            </a:r>
            <a:endParaRPr lang="en-US" sz="1200" dirty="0"/>
          </a:p>
        </p:txBody>
      </p:sp>
      <p:sp>
        <p:nvSpPr>
          <p:cNvPr id="7" name="Shape 5"/>
          <p:cNvSpPr/>
          <p:nvPr/>
        </p:nvSpPr>
        <p:spPr>
          <a:xfrm>
            <a:off x="822960" y="3172968"/>
            <a:ext cx="10515600" cy="841248"/>
          </a:xfrm>
          <a:prstGeom prst="roundRect">
            <a:avLst>
              <a:gd name="adj" fmla="val 10870"/>
            </a:avLst>
          </a:prstGeom>
          <a:solidFill>
            <a:srgbClr val="FFFFFF"/>
          </a:solidFill>
          <a:ln/>
        </p:spPr>
      </p:sp>
      <p:sp>
        <p:nvSpPr>
          <p:cNvPr id="8" name="Text 6"/>
          <p:cNvSpPr/>
          <p:nvPr/>
        </p:nvSpPr>
        <p:spPr>
          <a:xfrm>
            <a:off x="1051560" y="3227832"/>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seguimiento real es escaso, y sólo mira el gasto</a:t>
            </a:r>
            <a:endParaRPr lang="en-US" sz="1450" dirty="0"/>
          </a:p>
        </p:txBody>
      </p:sp>
      <p:sp>
        <p:nvSpPr>
          <p:cNvPr id="9" name="Text 7"/>
          <p:cNvSpPr/>
          <p:nvPr/>
        </p:nvSpPr>
        <p:spPr>
          <a:xfrm>
            <a:off x="4023360" y="3227832"/>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Quien controla no puede imponer instrumentos, pero sí necesita el dato al mismo rango que quien gestiona. De ahí ADM-12: sin tarificar, en formato abierto y con diccionario de datos.</a:t>
            </a:r>
            <a:endParaRPr lang="en-US" sz="1200" dirty="0"/>
          </a:p>
        </p:txBody>
      </p:sp>
      <p:sp>
        <p:nvSpPr>
          <p:cNvPr id="10" name="Shape 8"/>
          <p:cNvSpPr/>
          <p:nvPr/>
        </p:nvSpPr>
        <p:spPr>
          <a:xfrm>
            <a:off x="822960" y="4105656"/>
            <a:ext cx="10515600" cy="841248"/>
          </a:xfrm>
          <a:prstGeom prst="roundRect">
            <a:avLst>
              <a:gd name="adj" fmla="val 10870"/>
            </a:avLst>
          </a:prstGeom>
          <a:solidFill>
            <a:srgbClr val="EDF1F8"/>
          </a:solidFill>
          <a:ln/>
        </p:spPr>
      </p:sp>
      <p:sp>
        <p:nvSpPr>
          <p:cNvPr id="11" name="Text 9"/>
          <p:cNvSpPr/>
          <p:nvPr/>
        </p:nvSpPr>
        <p:spPr>
          <a:xfrm>
            <a:off x="1051560" y="4160520"/>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grado de abstracción es demasiado alto</a:t>
            </a:r>
            <a:endParaRPr lang="en-US" sz="1450" dirty="0"/>
          </a:p>
        </p:txBody>
      </p:sp>
      <p:sp>
        <p:nvSpPr>
          <p:cNvPr id="12" name="Text 10"/>
          <p:cNvSpPr/>
          <p:nvPr/>
        </p:nvSpPr>
        <p:spPr>
          <a:xfrm>
            <a:off x="4023360" y="4160520"/>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Método para elegir el contrato piloto, y un subconjunto mínimo de seis cláusulas para empezar. El catálogo entero no entra en el primer expediente.</a:t>
            </a:r>
            <a:endParaRPr lang="en-US" sz="1200" dirty="0"/>
          </a:p>
        </p:txBody>
      </p:sp>
      <p:sp>
        <p:nvSpPr>
          <p:cNvPr id="13" name="Shape 11"/>
          <p:cNvSpPr/>
          <p:nvPr/>
        </p:nvSpPr>
        <p:spPr>
          <a:xfrm>
            <a:off x="822960" y="5038344"/>
            <a:ext cx="10515600" cy="841248"/>
          </a:xfrm>
          <a:prstGeom prst="roundRect">
            <a:avLst>
              <a:gd name="adj" fmla="val 10870"/>
            </a:avLst>
          </a:prstGeom>
          <a:solidFill>
            <a:srgbClr val="FFFFFF"/>
          </a:solidFill>
          <a:ln/>
        </p:spPr>
      </p:sp>
      <p:sp>
        <p:nvSpPr>
          <p:cNvPr id="14" name="Text 12"/>
          <p:cNvSpPr/>
          <p:nvPr/>
        </p:nvSpPr>
        <p:spPr>
          <a:xfrm>
            <a:off x="1051560" y="5093208"/>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Hay actores, y no sólo propios, que no lo han visto</a:t>
            </a:r>
            <a:endParaRPr lang="en-US" sz="1450" dirty="0"/>
          </a:p>
        </p:txBody>
      </p:sp>
      <p:sp>
        <p:nvSpPr>
          <p:cNvPr id="15" name="Text 13"/>
          <p:cNvSpPr/>
          <p:nvPr/>
        </p:nvSpPr>
        <p:spPr>
          <a:xfrm>
            <a:off x="4023360" y="5093208"/>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Consulta preliminar anual, publicación del Anexo V antes de licitar, plazo por encima del mínimo y gradualidad. Si el mercado no puede cumplirlo, la exigencia no entra en el pliego.</a:t>
            </a:r>
            <a:endParaRPr lang="en-US" sz="12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Las cuatro se responden dentro del documento, no en una nota al pie: han cambiado su arquitectura, no su prólogo.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es, y qué no es</a:t>
            </a:r>
            <a:endParaRPr lang="en-US" sz="3600" dirty="0"/>
          </a:p>
        </p:txBody>
      </p:sp>
      <p:sp>
        <p:nvSpPr>
          <p:cNvPr id="3" name="Shape 1"/>
          <p:cNvSpPr/>
          <p:nvPr/>
        </p:nvSpPr>
        <p:spPr>
          <a:xfrm>
            <a:off x="822960" y="1645920"/>
            <a:ext cx="5120640" cy="3840480"/>
          </a:xfrm>
          <a:prstGeom prst="roundRect">
            <a:avLst>
              <a:gd name="adj" fmla="val 2381"/>
            </a:avLst>
          </a:prstGeom>
          <a:solidFill>
            <a:srgbClr val="EFF5F0"/>
          </a:solidFill>
          <a:ln/>
        </p:spPr>
      </p:sp>
      <p:sp>
        <p:nvSpPr>
          <p:cNvPr id="4" name="Text 2"/>
          <p:cNvSpPr/>
          <p:nvPr/>
        </p:nvSpPr>
        <p:spPr>
          <a:xfrm>
            <a:off x="1143000" y="1874520"/>
            <a:ext cx="4480560" cy="457200"/>
          </a:xfrm>
          <a:prstGeom prst="rect">
            <a:avLst/>
          </a:prstGeom>
          <a:noFill/>
          <a:ln/>
        </p:spPr>
        <p:txBody>
          <a:bodyPr wrap="square" rtlCol="0" anchor="ctr"/>
          <a:lstStyle/>
          <a:p>
            <a:pPr indent="0" marL="0">
              <a:buNone/>
            </a:pPr>
            <a:r>
              <a:rPr lang="en-US" sz="1400" b="1" spc="300" kern="0" dirty="0">
                <a:solidFill>
                  <a:srgbClr val="2E6B3E"/>
                </a:solidFill>
                <a:latin typeface="Calibri" pitchFamily="34" charset="0"/>
                <a:ea typeface="Calibri" pitchFamily="34" charset="-122"/>
                <a:cs typeface="Calibri" pitchFamily="34" charset="-120"/>
              </a:rPr>
              <a:t>ES</a:t>
            </a:r>
            <a:endParaRPr lang="en-US" sz="1400" dirty="0"/>
          </a:p>
        </p:txBody>
      </p:sp>
      <p:sp>
        <p:nvSpPr>
          <p:cNvPr id="5" name="Text 3"/>
          <p:cNvSpPr/>
          <p:nvPr/>
        </p:nvSpPr>
        <p:spPr>
          <a:xfrm>
            <a:off x="114300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catálogo de cláusulas ya redactadas, con su justificación y su medio de prueba.
</a:t>
            </a:r>
            <a:pPr indent="0" marL="0">
              <a:buNone/>
            </a:pPr>
            <a:r>
              <a:rPr lang="en-US" sz="1600" dirty="0">
                <a:solidFill>
                  <a:srgbClr val="22201D"/>
                </a:solidFill>
                <a:latin typeface="Calibri" pitchFamily="34" charset="0"/>
                <a:ea typeface="Calibri" pitchFamily="34" charset="-122"/>
                <a:cs typeface="Calibri" pitchFamily="34" charset="-120"/>
              </a:rPr>
              <a:t>Un manual de expediente: qué documento hace falta, quién lo firma y en qué orden.
</a:t>
            </a:r>
            <a:pPr indent="0" marL="0">
              <a:buNone/>
            </a:pPr>
            <a:r>
              <a:rPr lang="en-US" sz="1600" dirty="0">
                <a:solidFill>
                  <a:srgbClr val="22201D"/>
                </a:solidFill>
                <a:latin typeface="Calibri" pitchFamily="34" charset="0"/>
                <a:ea typeface="Calibri" pitchFamily="34" charset="-122"/>
                <a:cs typeface="Calibri" pitchFamily="34" charset="-120"/>
              </a:rPr>
              <a:t>Un ejemplo completo trabajado, de principio a fin, sobre un expediente simulado.</a:t>
            </a:r>
            <a:endParaRPr lang="en-US" sz="1600" dirty="0"/>
          </a:p>
        </p:txBody>
      </p:sp>
      <p:sp>
        <p:nvSpPr>
          <p:cNvPr id="6" name="Shape 4"/>
          <p:cNvSpPr/>
          <p:nvPr/>
        </p:nvSpPr>
        <p:spPr>
          <a:xfrm>
            <a:off x="6217920" y="1645920"/>
            <a:ext cx="5120640" cy="3840480"/>
          </a:xfrm>
          <a:prstGeom prst="roundRect">
            <a:avLst>
              <a:gd name="adj" fmla="val 2381"/>
            </a:avLst>
          </a:prstGeom>
          <a:solidFill>
            <a:srgbClr val="FBEEEC"/>
          </a:solidFill>
          <a:ln/>
        </p:spPr>
      </p:sp>
      <p:sp>
        <p:nvSpPr>
          <p:cNvPr id="7" name="Text 5"/>
          <p:cNvSpPr/>
          <p:nvPr/>
        </p:nvSpPr>
        <p:spPr>
          <a:xfrm>
            <a:off x="6537960" y="1874520"/>
            <a:ext cx="4480560" cy="457200"/>
          </a:xfrm>
          <a:prstGeom prst="rect">
            <a:avLst/>
          </a:prstGeom>
          <a:noFill/>
          <a:ln/>
        </p:spPr>
        <p:txBody>
          <a:bodyPr wrap="square" rtlCol="0" anchor="ctr"/>
          <a:lstStyle/>
          <a:p>
            <a:pPr indent="0" marL="0">
              <a:buNone/>
            </a:pPr>
            <a:r>
              <a:rPr lang="en-US" sz="1400" b="1" spc="300" kern="0" dirty="0">
                <a:solidFill>
                  <a:srgbClr val="9A3324"/>
                </a:solidFill>
                <a:latin typeface="Calibri" pitchFamily="34" charset="0"/>
                <a:ea typeface="Calibri" pitchFamily="34" charset="-122"/>
                <a:cs typeface="Calibri" pitchFamily="34" charset="-120"/>
              </a:rPr>
              <a:t>NO ES</a:t>
            </a:r>
            <a:endParaRPr lang="en-US" sz="1400" dirty="0"/>
          </a:p>
        </p:txBody>
      </p:sp>
      <p:sp>
        <p:nvSpPr>
          <p:cNvPr id="8" name="Text 6"/>
          <p:cNvSpPr/>
          <p:nvPr/>
        </p:nvSpPr>
        <p:spPr>
          <a:xfrm>
            <a:off x="653796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Una norma. No obliga a nadie por sí mismo.
</a:t>
            </a:r>
            <a:pPr indent="0" marL="0">
              <a:buNone/>
            </a:pPr>
            <a:r>
              <a:rPr lang="en-US" sz="1600" dirty="0">
                <a:solidFill>
                  <a:srgbClr val="22201D"/>
                </a:solidFill>
                <a:latin typeface="Calibri" pitchFamily="34" charset="0"/>
                <a:ea typeface="Calibri" pitchFamily="34" charset="-122"/>
                <a:cs typeface="Calibri" pitchFamily="34" charset="-120"/>
              </a:rPr>
              <a:t>De aplicación automática. Ninguna cláusula entra en un pliego por existir aquí.
</a:t>
            </a:r>
            <a:pPr indent="0" marL="0">
              <a:buNone/>
            </a:pPr>
            <a:r>
              <a:rPr lang="en-US" sz="1600" dirty="0">
                <a:solidFill>
                  <a:srgbClr val="22201D"/>
                </a:solidFill>
                <a:latin typeface="Calibri" pitchFamily="34" charset="0"/>
                <a:ea typeface="Calibri" pitchFamily="34" charset="-122"/>
                <a:cs typeface="Calibri" pitchFamily="34" charset="-120"/>
              </a:rPr>
              <a:t>Un «copia y pega». Una cláusula sin necesidad acreditada no protege: añade un motivo de recurso.</a:t>
            </a:r>
            <a:endParaRPr lang="en-US" sz="1600" dirty="0"/>
          </a:p>
        </p:txBody>
      </p:sp>
      <p:sp>
        <p:nvSpPr>
          <p:cNvPr id="9" name="Text 7"/>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toma lo que cada expediente necesita, y se justifica. Ésa es toda la regla de uso.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hay publicado, y para quién</a:t>
            </a:r>
            <a:endParaRPr lang="en-US" sz="3600" dirty="0"/>
          </a:p>
        </p:txBody>
      </p:sp>
      <p:sp>
        <p:nvSpPr>
          <p:cNvPr id="3" name="Shape 1"/>
          <p:cNvSpPr/>
          <p:nvPr/>
        </p:nvSpPr>
        <p:spPr>
          <a:xfrm>
            <a:off x="822960" y="1417320"/>
            <a:ext cx="10515600" cy="987552"/>
          </a:xfrm>
          <a:prstGeom prst="roundRect">
            <a:avLst>
              <a:gd name="adj" fmla="val 9259"/>
            </a:avLst>
          </a:prstGeom>
          <a:solidFill>
            <a:srgbClr val="EDF1F8"/>
          </a:solidFill>
          <a:ln/>
        </p:spPr>
      </p:sp>
      <p:sp>
        <p:nvSpPr>
          <p:cNvPr id="4" name="Text 2"/>
          <p:cNvSpPr/>
          <p:nvPr/>
        </p:nvSpPr>
        <p:spPr>
          <a:xfrm>
            <a:off x="1097280" y="1527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El clausulado completo</a:t>
            </a:r>
            <a:endParaRPr lang="en-US" sz="1650" dirty="0"/>
          </a:p>
        </p:txBody>
      </p:sp>
      <p:sp>
        <p:nvSpPr>
          <p:cNvPr id="5" name="Text 3"/>
          <p:cNvSpPr/>
          <p:nvPr/>
        </p:nvSpPr>
        <p:spPr>
          <a:xfrm>
            <a:off x="4297680" y="1527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Catálogo, memoria justificativa para los órganos de control, circuito del expediente, ejemplo trabajado y anexos con todos los modelos.</a:t>
            </a:r>
            <a:endParaRPr lang="en-US" sz="1280" dirty="0"/>
          </a:p>
        </p:txBody>
      </p:sp>
      <p:sp>
        <p:nvSpPr>
          <p:cNvPr id="6" name="Text 4"/>
          <p:cNvSpPr/>
          <p:nvPr/>
        </p:nvSpPr>
        <p:spPr>
          <a:xfrm>
            <a:off x="9326880" y="1527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Quien redacta y quien fiscaliza</a:t>
            </a:r>
            <a:endParaRPr lang="en-US" sz="1120" dirty="0"/>
          </a:p>
        </p:txBody>
      </p:sp>
      <p:sp>
        <p:nvSpPr>
          <p:cNvPr id="7" name="Shape 5"/>
          <p:cNvSpPr/>
          <p:nvPr/>
        </p:nvSpPr>
        <p:spPr>
          <a:xfrm>
            <a:off x="822960" y="2560320"/>
            <a:ext cx="10515600" cy="987552"/>
          </a:xfrm>
          <a:prstGeom prst="roundRect">
            <a:avLst>
              <a:gd name="adj" fmla="val 9259"/>
            </a:avLst>
          </a:prstGeom>
          <a:solidFill>
            <a:srgbClr val="EDF1F8"/>
          </a:solidFill>
          <a:ln/>
        </p:spPr>
      </p:sp>
      <p:sp>
        <p:nvSpPr>
          <p:cNvPr id="8" name="Text 6"/>
          <p:cNvSpPr/>
          <p:nvPr/>
        </p:nvSpPr>
        <p:spPr>
          <a:xfrm>
            <a:off x="1097280" y="2670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La guía municipal · 20 páginas</a:t>
            </a:r>
            <a:endParaRPr lang="en-US" sz="1650" dirty="0"/>
          </a:p>
        </p:txBody>
      </p:sp>
      <p:sp>
        <p:nvSpPr>
          <p:cNvPr id="9" name="Text 7"/>
          <p:cNvSpPr/>
          <p:nvPr/>
        </p:nvSpPr>
        <p:spPr>
          <a:xfrm>
            <a:off x="4297680" y="2670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Cómo decidir, motivar, seleccionar, copiar y verificar sin recorrer el catálogo entero.</a:t>
            </a:r>
            <a:endParaRPr lang="en-US" sz="1280" dirty="0"/>
          </a:p>
        </p:txBody>
      </p:sp>
      <p:sp>
        <p:nvSpPr>
          <p:cNvPr id="10" name="Text 8"/>
          <p:cNvSpPr/>
          <p:nvPr/>
        </p:nvSpPr>
        <p:spPr>
          <a:xfrm>
            <a:off x="9326880" y="2670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Concejalía, Contratación, Intervención y TI</a:t>
            </a:r>
            <a:endParaRPr lang="en-US" sz="1120" dirty="0"/>
          </a:p>
        </p:txBody>
      </p:sp>
      <p:sp>
        <p:nvSpPr>
          <p:cNvPr id="11" name="Shape 9"/>
          <p:cNvSpPr/>
          <p:nvPr/>
        </p:nvSpPr>
        <p:spPr>
          <a:xfrm>
            <a:off x="822960" y="3703320"/>
            <a:ext cx="10515600" cy="987552"/>
          </a:xfrm>
          <a:prstGeom prst="roundRect">
            <a:avLst>
              <a:gd name="adj" fmla="val 9259"/>
            </a:avLst>
          </a:prstGeom>
          <a:solidFill>
            <a:srgbClr val="EDF1F8"/>
          </a:solidFill>
          <a:ln/>
        </p:spPr>
      </p:sp>
      <p:sp>
        <p:nvSpPr>
          <p:cNvPr id="12" name="Text 10"/>
          <p:cNvSpPr/>
          <p:nvPr/>
        </p:nvSpPr>
        <p:spPr>
          <a:xfrm>
            <a:off x="1097280" y="3813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El resumen y la guía de uso</a:t>
            </a:r>
            <a:endParaRPr lang="en-US" sz="1650" dirty="0"/>
          </a:p>
        </p:txBody>
      </p:sp>
      <p:sp>
        <p:nvSpPr>
          <p:cNvPr id="13" name="Text 11"/>
          <p:cNvSpPr/>
          <p:nvPr/>
        </p:nvSpPr>
        <p:spPr>
          <a:xfrm>
            <a:off x="4297680" y="3813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La primera parte del documento, escrita para quien no sabe nada de contratación ni de tecnología.</a:t>
            </a:r>
            <a:endParaRPr lang="en-US" sz="1280" dirty="0"/>
          </a:p>
        </p:txBody>
      </p:sp>
      <p:sp>
        <p:nvSpPr>
          <p:cNvPr id="14" name="Text 12"/>
          <p:cNvSpPr/>
          <p:nvPr/>
        </p:nvSpPr>
        <p:spPr>
          <a:xfrm>
            <a:off x="9326880" y="3813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Alcaldía, concejalías, prensa</a:t>
            </a:r>
            <a:endParaRPr lang="en-US" sz="1120" dirty="0"/>
          </a:p>
        </p:txBody>
      </p:sp>
      <p:sp>
        <p:nvSpPr>
          <p:cNvPr id="15" name="Shape 13"/>
          <p:cNvSpPr/>
          <p:nvPr/>
        </p:nvSpPr>
        <p:spPr>
          <a:xfrm>
            <a:off x="822960" y="4846320"/>
            <a:ext cx="10515600" cy="987552"/>
          </a:xfrm>
          <a:prstGeom prst="roundRect">
            <a:avLst>
              <a:gd name="adj" fmla="val 9259"/>
            </a:avLst>
          </a:prstGeom>
          <a:solidFill>
            <a:srgbClr val="EDF1F8"/>
          </a:solidFill>
          <a:ln/>
        </p:spPr>
      </p:sp>
      <p:sp>
        <p:nvSpPr>
          <p:cNvPr id="16" name="Text 14"/>
          <p:cNvSpPr/>
          <p:nvPr/>
        </p:nvSpPr>
        <p:spPr>
          <a:xfrm>
            <a:off x="1097280" y="4956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Esta presentación</a:t>
            </a:r>
            <a:endParaRPr lang="en-US" sz="1650" dirty="0"/>
          </a:p>
        </p:txBody>
      </p:sp>
      <p:sp>
        <p:nvSpPr>
          <p:cNvPr id="17" name="Text 15"/>
          <p:cNvSpPr/>
          <p:nvPr/>
        </p:nvSpPr>
        <p:spPr>
          <a:xfrm>
            <a:off x="4297680" y="4956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El problema y la solución, sin que haga falta saber nada previo.</a:t>
            </a:r>
            <a:endParaRPr lang="en-US" sz="1280" dirty="0"/>
          </a:p>
        </p:txBody>
      </p:sp>
      <p:sp>
        <p:nvSpPr>
          <p:cNvPr id="18" name="Text 16"/>
          <p:cNvSpPr/>
          <p:nvPr/>
        </p:nvSpPr>
        <p:spPr>
          <a:xfrm>
            <a:off x="9326880" y="4956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Cualquier sala</a:t>
            </a:r>
            <a:endParaRPr lang="en-US" sz="1120" dirty="0"/>
          </a:p>
        </p:txBody>
      </p:sp>
      <p:sp>
        <p:nvSpPr>
          <p:cNvPr id="19" name="Text 17"/>
          <p:cNvSpPr/>
          <p:nvPr/>
        </p:nvSpPr>
        <p:spPr>
          <a:xfrm>
            <a:off x="822960" y="6080760"/>
            <a:ext cx="10515600" cy="411480"/>
          </a:xfrm>
          <a:prstGeom prst="rect">
            <a:avLst/>
          </a:prstGeom>
          <a:noFill/>
          <a:ln/>
        </p:spPr>
        <p:txBody>
          <a:bodyPr wrap="square" rtlCol="0" anchor="ctr"/>
          <a:lstStyle/>
          <a:p>
            <a:pPr indent="0" marL="0">
              <a:buNone/>
            </a:pPr>
            <a:r>
              <a:rPr lang="en-US" sz="1350" dirty="0">
                <a:solidFill>
                  <a:srgbClr val="22201D"/>
                </a:solidFill>
                <a:latin typeface="Calibri" pitchFamily="34" charset="0"/>
                <a:ea typeface="Calibri" pitchFamily="34" charset="-122"/>
                <a:cs typeface="Calibri" pitchFamily="34" charset="-120"/>
              </a:rPr>
              <a:t>Todo en abierto, bajo licencia Creative Commons Attribution 4.0: se puede copiar, adaptar y usar con cualquier finalidad, citando la autoría.</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Quién lo ha hecho</a:t>
            </a:r>
            <a:endParaRPr lang="en-US" sz="3600" dirty="0"/>
          </a:p>
        </p:txBody>
      </p:sp>
      <p:sp>
        <p:nvSpPr>
          <p:cNvPr id="3" name="Text 1"/>
          <p:cNvSpPr/>
          <p:nvPr/>
        </p:nvSpPr>
        <p:spPr>
          <a:xfrm>
            <a:off x="822960" y="1371600"/>
            <a:ext cx="10515600" cy="54864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trabajo conjunto de varios meses entre siete personas, cada una desde su oficio.</a:t>
            </a:r>
            <a:endParaRPr lang="en-US" sz="1600" dirty="0"/>
          </a:p>
        </p:txBody>
      </p:sp>
      <p:sp>
        <p:nvSpPr>
          <p:cNvPr id="4" name="Shape 2"/>
          <p:cNvSpPr/>
          <p:nvPr/>
        </p:nvSpPr>
        <p:spPr>
          <a:xfrm>
            <a:off x="822960" y="1965960"/>
            <a:ext cx="82296" cy="822960"/>
          </a:xfrm>
          <a:prstGeom prst="rect">
            <a:avLst/>
          </a:prstGeom>
          <a:solidFill>
            <a:srgbClr val="1F3864"/>
          </a:solidFill>
          <a:ln/>
        </p:spPr>
      </p:sp>
      <p:sp>
        <p:nvSpPr>
          <p:cNvPr id="5" name="Text 3"/>
          <p:cNvSpPr/>
          <p:nvPr/>
        </p:nvSpPr>
        <p:spPr>
          <a:xfrm>
            <a:off x="1188720" y="1965960"/>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Delfina Lafuente Veira</a:t>
            </a:r>
            <a:endParaRPr lang="en-US" sz="1550" dirty="0"/>
          </a:p>
        </p:txBody>
      </p:sp>
      <p:sp>
        <p:nvSpPr>
          <p:cNvPr id="6" name="Text 4"/>
          <p:cNvSpPr/>
          <p:nvPr/>
        </p:nvSpPr>
        <p:spPr>
          <a:xfrm>
            <a:off x="1188720" y="2212848"/>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Concejal de Administración Digital, Calidad e Innovación · Ayuntamiento de Pozuelo de Alarcón  ·  pozuelodealarcon.org</a:t>
            </a:r>
            <a:endParaRPr lang="en-US" sz="1080" dirty="0"/>
          </a:p>
        </p:txBody>
      </p:sp>
      <p:sp>
        <p:nvSpPr>
          <p:cNvPr id="7" name="Text 5"/>
          <p:cNvSpPr/>
          <p:nvPr/>
        </p:nvSpPr>
        <p:spPr>
          <a:xfrm>
            <a:off x="1188720" y="2423160"/>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De ella nace el proyecto y suya es la primera redacción. Y suyo es el mérito menos visible: llevarlo a los servicios de contratación y jurídicos de su propio ayuntamiento y traer sus objeciones de vuelta enteras.</a:t>
            </a:r>
            <a:endParaRPr lang="en-US" sz="1140" dirty="0"/>
          </a:p>
        </p:txBody>
      </p:sp>
      <p:sp>
        <p:nvSpPr>
          <p:cNvPr id="8" name="Shape 6"/>
          <p:cNvSpPr/>
          <p:nvPr/>
        </p:nvSpPr>
        <p:spPr>
          <a:xfrm>
            <a:off x="822960" y="2935224"/>
            <a:ext cx="82296" cy="822960"/>
          </a:xfrm>
          <a:prstGeom prst="rect">
            <a:avLst/>
          </a:prstGeom>
          <a:solidFill>
            <a:srgbClr val="1F3864"/>
          </a:solidFill>
          <a:ln/>
        </p:spPr>
      </p:sp>
      <p:sp>
        <p:nvSpPr>
          <p:cNvPr id="9" name="Text 7"/>
          <p:cNvSpPr/>
          <p:nvPr/>
        </p:nvSpPr>
        <p:spPr>
          <a:xfrm>
            <a:off x="1188720" y="2935224"/>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Dr. José Antonio Ondiviela García</a:t>
            </a:r>
            <a:endParaRPr lang="en-US" sz="1550" dirty="0"/>
          </a:p>
        </p:txBody>
      </p:sp>
      <p:sp>
        <p:nvSpPr>
          <p:cNvPr id="10" name="Text 8"/>
          <p:cNvSpPr/>
          <p:nvPr/>
        </p:nvSpPr>
        <p:spPr>
          <a:xfrm>
            <a:off x="1188720" y="3182112"/>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Profesor e investigador de la Escuela Politécnica Superior · Universidad Francisco de Vitoria  ·  ufv.es</a:t>
            </a:r>
            <a:endParaRPr lang="en-US" sz="1080" dirty="0"/>
          </a:p>
        </p:txBody>
      </p:sp>
      <p:sp>
        <p:nvSpPr>
          <p:cNvPr id="11" name="Text 9"/>
          <p:cNvSpPr/>
          <p:nvPr/>
        </p:nvSpPr>
        <p:spPr>
          <a:xfrm>
            <a:off x="1188720" y="3392424"/>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mirada del mercado: qué se le puede pedir de verdad a un fabricante de software y qué hará que no se presente. Suya es la idea que resuelve el problema de fondo.</a:t>
            </a:r>
            <a:endParaRPr lang="en-US" sz="1140" dirty="0"/>
          </a:p>
        </p:txBody>
      </p:sp>
      <p:sp>
        <p:nvSpPr>
          <p:cNvPr id="12" name="Shape 10"/>
          <p:cNvSpPr/>
          <p:nvPr/>
        </p:nvSpPr>
        <p:spPr>
          <a:xfrm>
            <a:off x="822960" y="3904488"/>
            <a:ext cx="82296" cy="822960"/>
          </a:xfrm>
          <a:prstGeom prst="rect">
            <a:avLst/>
          </a:prstGeom>
          <a:solidFill>
            <a:srgbClr val="1F3864"/>
          </a:solidFill>
          <a:ln/>
        </p:spPr>
      </p:sp>
      <p:sp>
        <p:nvSpPr>
          <p:cNvPr id="13" name="Text 11"/>
          <p:cNvSpPr/>
          <p:nvPr/>
        </p:nvSpPr>
        <p:spPr>
          <a:xfrm>
            <a:off x="1188720" y="3904488"/>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Miguel Ángel Domínguez Castellano</a:t>
            </a:r>
            <a:endParaRPr lang="en-US" sz="1550" dirty="0"/>
          </a:p>
        </p:txBody>
      </p:sp>
      <p:sp>
        <p:nvSpPr>
          <p:cNvPr id="14" name="Text 12"/>
          <p:cNvSpPr/>
          <p:nvPr/>
        </p:nvSpPr>
        <p:spPr>
          <a:xfrm>
            <a:off x="1188720" y="4151376"/>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CEO de Add4u · Presidente de Alastria · Presidente del Clúster de Blockchain de la Comunidad de Madrid  ·  miguelangeldominguez.info</a:t>
            </a:r>
            <a:endParaRPr lang="en-US" sz="1080" dirty="0"/>
          </a:p>
        </p:txBody>
      </p:sp>
      <p:sp>
        <p:nvSpPr>
          <p:cNvPr id="15" name="Text 13"/>
          <p:cNvSpPr/>
          <p:nvPr/>
        </p:nvSpPr>
        <p:spPr>
          <a:xfrm>
            <a:off x="1188720" y="4361688"/>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perspectiva de quien conoce las dos orillas: la de quien redacta pliegos y la de quien se presenta a ellos. Asume la responsabilidad editorial de la publicación.</a:t>
            </a:r>
            <a:endParaRPr lang="en-US" sz="1140" dirty="0"/>
          </a:p>
        </p:txBody>
      </p:sp>
      <p:sp>
        <p:nvSpPr>
          <p:cNvPr id="16" name="Shape 14"/>
          <p:cNvSpPr/>
          <p:nvPr/>
        </p:nvSpPr>
        <p:spPr>
          <a:xfrm>
            <a:off x="822960" y="4873752"/>
            <a:ext cx="82296" cy="822960"/>
          </a:xfrm>
          <a:prstGeom prst="rect">
            <a:avLst/>
          </a:prstGeom>
          <a:solidFill>
            <a:srgbClr val="1F3864"/>
          </a:solidFill>
          <a:ln/>
        </p:spPr>
      </p:sp>
      <p:sp>
        <p:nvSpPr>
          <p:cNvPr id="17" name="Text 15"/>
          <p:cNvSpPr/>
          <p:nvPr/>
        </p:nvSpPr>
        <p:spPr>
          <a:xfrm>
            <a:off x="1188720" y="4873752"/>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Enrique Jiménez · Roberto García · Luis Llorente</a:t>
            </a:r>
            <a:endParaRPr lang="en-US" sz="1550" dirty="0"/>
          </a:p>
        </p:txBody>
      </p:sp>
      <p:sp>
        <p:nvSpPr>
          <p:cNvPr id="18" name="Text 16"/>
          <p:cNvSpPr/>
          <p:nvPr/>
        </p:nvSpPr>
        <p:spPr>
          <a:xfrm>
            <a:off x="1188720" y="5120640"/>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Contratos de innovación · Jefatura de informática · Negociado de sistemas de información — Ayuntamiento de Pozuelo de Alarcón</a:t>
            </a:r>
            <a:endParaRPr lang="en-US" sz="1080" dirty="0"/>
          </a:p>
        </p:txBody>
      </p:sp>
      <p:sp>
        <p:nvSpPr>
          <p:cNvPr id="19" name="Text 17"/>
          <p:cNvSpPr/>
          <p:nvPr/>
        </p:nvSpPr>
        <p:spPr>
          <a:xfrm>
            <a:off x="1188720" y="5330952"/>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Autores y supervisores técnicos: el contraste de la práctica municipal y la supervisión técnica de la formulación contractual. Con la lectura crítica de Francisco Javier Escalona Moyano, Interventor General, a título personal.</a:t>
            </a:r>
            <a:endParaRPr lang="en-US" sz="1140" dirty="0"/>
          </a:p>
        </p:txBody>
      </p:sp>
      <p:sp>
        <p:nvSpPr>
          <p:cNvPr id="20" name="Text 18"/>
          <p:cNvSpPr/>
          <p:nvPr/>
        </p:nvSpPr>
        <p:spPr>
          <a:xfrm>
            <a:off x="822960" y="5943600"/>
            <a:ext cx="10515600" cy="548640"/>
          </a:xfrm>
          <a:prstGeom prst="rect">
            <a:avLst/>
          </a:prstGeom>
          <a:noFill/>
          <a:ln/>
        </p:spPr>
        <p:txBody>
          <a:bodyPr wrap="square" rtlCol="0" anchor="ctr"/>
          <a:lstStyle/>
          <a:p>
            <a:pPr indent="0" marL="0">
              <a:buNone/>
            </a:pPr>
            <a:r>
              <a:rPr lang="en-US" sz="1100" i="1" dirty="0">
                <a:solidFill>
                  <a:srgbClr val="6E6A63"/>
                </a:solidFill>
                <a:latin typeface="Calibri" pitchFamily="34" charset="0"/>
                <a:ea typeface="Calibri" pitchFamily="34" charset="-122"/>
                <a:cs typeface="Calibri" pitchFamily="34" charset="-120"/>
              </a:rPr>
              <a:t>Las cuatro dificultades del §M1.1 son la razón de ser de esta versión y se responden una a una en el cuerpo del documento. Ningún órgano de contratación, intervención o asesoría jurídica se ha pronunciado sobre el catálogo.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Uso de inteligencia artificial, y cómo debe usarse esto</a:t>
            </a:r>
            <a:endParaRPr lang="en-US" sz="3600" dirty="0"/>
          </a:p>
        </p:txBody>
      </p:sp>
      <p:sp>
        <p:nvSpPr>
          <p:cNvPr id="3" name="Shape 1"/>
          <p:cNvSpPr/>
          <p:nvPr/>
        </p:nvSpPr>
        <p:spPr>
          <a:xfrm>
            <a:off x="822960" y="1417320"/>
            <a:ext cx="10515600" cy="1783080"/>
          </a:xfrm>
          <a:prstGeom prst="roundRect">
            <a:avLst>
              <a:gd name="adj" fmla="val 5128"/>
            </a:avLst>
          </a:prstGeom>
          <a:solidFill>
            <a:srgbClr val="EDF1F8"/>
          </a:solidFill>
          <a:ln/>
        </p:spPr>
      </p:sp>
      <p:sp>
        <p:nvSpPr>
          <p:cNvPr id="4" name="Text 2"/>
          <p:cNvSpPr/>
          <p:nvPr/>
        </p:nvSpPr>
        <p:spPr>
          <a:xfrm>
            <a:off x="1188720" y="1645920"/>
            <a:ext cx="9784080" cy="365760"/>
          </a:xfrm>
          <a:prstGeom prst="rect">
            <a:avLst/>
          </a:prstGeom>
          <a:noFill/>
          <a:ln/>
        </p:spPr>
        <p:txBody>
          <a:bodyPr wrap="square"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En la elaboración de este documento se han utilizado sistemas de inteligencia artificial:</a:t>
            </a:r>
            <a:endParaRPr lang="en-US" sz="1500" dirty="0"/>
          </a:p>
        </p:txBody>
      </p:sp>
      <p:sp>
        <p:nvSpPr>
          <p:cNvPr id="5" name="Text 3"/>
          <p:cNvSpPr/>
          <p:nvPr/>
        </p:nvSpPr>
        <p:spPr>
          <a:xfrm>
            <a:off x="1188720" y="2011680"/>
            <a:ext cx="9784080" cy="105156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el clon digital («second brain») de Miguel Ángel Domínguez, determinante en la recuperación del material disperso, la investigación jurídica, la verificación de las fuentes, la crítica adversarial del texto y la redacción de los borradores. Las decisiones, el criterio jurídico y la responsabilidad son de las personas que lo firman.</a:t>
            </a:r>
            <a:endParaRPr lang="en-US" sz="1450" dirty="0"/>
          </a:p>
        </p:txBody>
      </p:sp>
      <p:sp>
        <p:nvSpPr>
          <p:cNvPr id="6" name="Text 4"/>
          <p:cNvSpPr/>
          <p:nvPr/>
        </p:nvSpPr>
        <p:spPr>
          <a:xfrm>
            <a:off x="822960" y="3337560"/>
            <a:ext cx="10515600" cy="68580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declara aunque no sea obligatorio: el art. 50.4 del Reglamento (UE) 2024/1689 exime de divulgarlo cuando hay revisión humana y responsabilidad editorial. Se divulga igualmente, porque un documento que exige transparencia de IA no puede ocultarla en sí mismo.</a:t>
            </a:r>
            <a:endParaRPr lang="en-US" sz="1400" dirty="0"/>
          </a:p>
        </p:txBody>
      </p:sp>
      <p:sp>
        <p:nvSpPr>
          <p:cNvPr id="7" name="Shape 5"/>
          <p:cNvSpPr/>
          <p:nvPr/>
        </p:nvSpPr>
        <p:spPr>
          <a:xfrm>
            <a:off x="822960" y="4160520"/>
            <a:ext cx="10515600" cy="1600200"/>
          </a:xfrm>
          <a:prstGeom prst="roundRect">
            <a:avLst>
              <a:gd name="adj" fmla="val 5714"/>
            </a:avLst>
          </a:prstGeom>
          <a:solidFill>
            <a:srgbClr val="FDF6E6"/>
          </a:solidFill>
          <a:ln/>
        </p:spPr>
      </p:sp>
      <p:sp>
        <p:nvSpPr>
          <p:cNvPr id="8" name="Text 6"/>
          <p:cNvSpPr/>
          <p:nvPr/>
        </p:nvSpPr>
        <p:spPr>
          <a:xfrm>
            <a:off x="1188720" y="4389120"/>
            <a:ext cx="9784080" cy="457200"/>
          </a:xfrm>
          <a:prstGeom prst="rect">
            <a:avLst/>
          </a:prstGeom>
          <a:noFill/>
          <a:ln/>
        </p:spPr>
        <p:txBody>
          <a:bodyPr wrap="square" rtlCol="0" anchor="ctr"/>
          <a:lstStyle/>
          <a:p>
            <a:pPr indent="0" marL="0">
              <a:buNone/>
            </a:pPr>
            <a:r>
              <a:rPr lang="en-US" sz="1800" b="1" dirty="0">
                <a:solidFill>
                  <a:srgbClr val="22201D"/>
                </a:solidFill>
                <a:latin typeface="Georgia" pitchFamily="34" charset="0"/>
                <a:ea typeface="Georgia" pitchFamily="34" charset="-122"/>
                <a:cs typeface="Georgia" pitchFamily="34" charset="-120"/>
              </a:rPr>
              <a:t>Se publica «tal cual» (as is). Se recomienda su lectura y su uso — y con la misma firmeza, NO copiarlo sin entenderlo.</a:t>
            </a:r>
            <a:endParaRPr lang="en-US" sz="1800" dirty="0"/>
          </a:p>
        </p:txBody>
      </p:sp>
      <p:sp>
        <p:nvSpPr>
          <p:cNvPr id="9" name="Text 7"/>
          <p:cNvSpPr/>
          <p:nvPr/>
        </p:nvSpPr>
        <p:spPr>
          <a:xfrm>
            <a:off x="1188720" y="4892040"/>
            <a:ext cx="9784080" cy="77724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Una cláusula copiada sin necesidad acreditada no protege: añade un motivo de recurso. Una exigencia copiada sin contrastar con el mercado no es más ambiciosa, es más restrictiva. Una obligación que nadie verifica es peor que no tenerla.</a:t>
            </a:r>
            <a:endParaRPr lang="en-US" sz="1450" dirty="0"/>
          </a:p>
        </p:txBody>
      </p:sp>
      <p:sp>
        <p:nvSpPr>
          <p:cNvPr id="10" name="Text 8"/>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No es asesoramiento legal, y no sustituye a los informes preceptivos de ninguna administración.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2194560"/>
            <a:ext cx="10515600" cy="1828800"/>
          </a:xfrm>
          <a:prstGeom prst="rect">
            <a:avLst/>
          </a:prstGeom>
          <a:noFill/>
          <a:ln/>
        </p:spPr>
        <p:txBody>
          <a:bodyPr wrap="square" rtlCol="0" anchor="ctr"/>
          <a:lstStyle/>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Una licitación que dura años</a:t>
            </a:r>
            <a:endParaRPr lang="en-US" sz="3600" dirty="0"/>
          </a:p>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ya no se puede sacar como se sacaba antes.</a:t>
            </a:r>
            <a:endParaRPr lang="en-US" sz="3600" dirty="0"/>
          </a:p>
        </p:txBody>
      </p:sp>
      <p:sp>
        <p:nvSpPr>
          <p:cNvPr id="3" name="Text 1"/>
          <p:cNvSpPr/>
          <p:nvPr/>
        </p:nvSpPr>
        <p:spPr>
          <a:xfrm>
            <a:off x="822960" y="4206240"/>
            <a:ext cx="10515600" cy="457200"/>
          </a:xfrm>
          <a:prstGeom prst="rect">
            <a:avLst/>
          </a:prstGeom>
          <a:noFill/>
          <a:ln/>
        </p:spPr>
        <p:txBody>
          <a:bodyPr wrap="square" rtlCol="0" anchor="ctr"/>
          <a:lstStyle/>
          <a:p>
            <a:pPr indent="0" marL="0">
              <a:buNone/>
            </a:pPr>
            <a:r>
              <a:rPr lang="en-US" sz="1800" dirty="0">
                <a:solidFill>
                  <a:srgbClr val="C9D3E6"/>
                </a:solidFill>
                <a:latin typeface="Calibri" pitchFamily="34" charset="0"/>
                <a:ea typeface="Calibri" pitchFamily="34" charset="-122"/>
                <a:cs typeface="Calibri" pitchFamily="34" charset="-120"/>
              </a:rPr>
              <a:t>El clausulado completo, los modelos y esta presentación están publicados en abierto.</a:t>
            </a:r>
            <a:endParaRPr lang="en-US" sz="1800" dirty="0"/>
          </a:p>
        </p:txBody>
      </p:sp>
      <p:sp>
        <p:nvSpPr>
          <p:cNvPr id="4" name="Text 2"/>
          <p:cNvSpPr/>
          <p:nvPr/>
        </p:nvSpPr>
        <p:spPr>
          <a:xfrm>
            <a:off x="822960" y="4754880"/>
            <a:ext cx="1051560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github.com/migueldadd4u/ai-clauses</a:t>
            </a:r>
            <a:endParaRPr lang="en-US" sz="2200" dirty="0"/>
          </a:p>
        </p:txBody>
      </p:sp>
      <p:sp>
        <p:nvSpPr>
          <p:cNvPr id="5" name="Text 3"/>
          <p:cNvSpPr/>
          <p:nvPr/>
        </p:nvSpPr>
        <p:spPr>
          <a:xfrm>
            <a:off x="822960" y="5760720"/>
            <a:ext cx="10515600" cy="640080"/>
          </a:xfrm>
          <a:prstGeom prst="rect">
            <a:avLst/>
          </a:prstGeom>
          <a:noFill/>
          <a:ln/>
        </p:spPr>
        <p:txBody>
          <a:bodyPr wrap="square" rtlCol="0" anchor="ctr"/>
          <a:lstStyle/>
          <a:p>
            <a:pPr indent="0" marL="0">
              <a:buNone/>
            </a:pPr>
            <a:r>
              <a:rPr lang="en-US" sz="1250" i="1" dirty="0">
                <a:solidFill>
                  <a:srgbClr val="C9D3E6"/>
                </a:solidFill>
                <a:latin typeface="Calibri" pitchFamily="34" charset="0"/>
                <a:ea typeface="Calibri" pitchFamily="34" charset="-122"/>
                <a:cs typeface="Calibri" pitchFamily="34" charset="-120"/>
              </a:rPr>
              <a:t>No es asesoramiento legal. Su incorporación a un expediente concreto exige el análisis, la adaptación y los informes preceptivos de cada administración.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Clauses · Cláusulas de IA para la contratación pública</dc:title>
  <dc:subject>PptxGenJS Presentation</dc:subject>
  <dc:creator>Miguel Ángel Domínguez Castellano</dc:creator>
  <cp:lastModifiedBy>Miguel Ángel Domínguez Castellano</cp:lastModifiedBy>
  <cp:revision>1</cp:revision>
  <dcterms:created xsi:type="dcterms:W3CDTF">2026-09-07T16:24:42Z</dcterms:created>
  <dcterms:modified xsi:type="dcterms:W3CDTF">2026-09-07T16:24:42Z</dcterms:modified>
</cp:coreProperties>
</file>