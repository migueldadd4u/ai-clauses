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60020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C9D3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Clauses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228600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contrato público de tecnología dura años.</a:t>
            </a:r>
            <a:endParaRPr lang="en-US" sz="42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tecnología que compra, no.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822960" y="4206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Cláusulas de inteligencia artificial y deep tech para pliegos de contratación pública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822960" y="5029200"/>
            <a:ext cx="2011680" cy="0"/>
          </a:xfrm>
          <a:prstGeom prst="line">
            <a:avLst/>
          </a:prstGeom>
          <a:noFill/>
          <a:ln w="19050">
            <a:solidFill>
              <a:srgbClr val="C9D3E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5257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Miguel Ángel Domínguez Castellano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Versión 3.0 · septiembre de 2026 · publicado en abierto bajo licencia CC BY 4.0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idea, en una frase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1188720" y="1920240"/>
            <a:ext cx="97840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800" i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el contrato obligue al proveedor a entregar</a:t>
            </a:r>
            <a:endParaRPr lang="en-US" sz="2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800" i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capacidades concretas y comprobables durante toda su vida,</a:t>
            </a:r>
            <a:endParaRPr lang="en-US" sz="28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800" i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 lugar de una promesa de «mantenerse actualizado».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188720" y="4206240"/>
            <a:ext cx="9784080" cy="1371600"/>
          </a:xfrm>
          <a:prstGeom prst="roundRect">
            <a:avLst>
              <a:gd name="adj" fmla="val 6667"/>
            </a:avLst>
          </a:prstGeom>
          <a:solidFill>
            <a:srgbClr val="EDF1F8"/>
          </a:solidFill>
          <a:ln/>
        </p:spPr>
      </p:sp>
      <p:sp>
        <p:nvSpPr>
          <p:cNvPr id="5" name="Text 3"/>
          <p:cNvSpPr/>
          <p:nvPr/>
        </p:nvSpPr>
        <p:spPr>
          <a:xfrm>
            <a:off x="1554480" y="4526280"/>
            <a:ext cx="9052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que se pueda comprobar con un acta, no con una discusión.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demás de esta presentación es la explicación de esa frase.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problema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4630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ayuntamiento contrata un sistema de gestión: tributos, padrón, contabilidad, atención al ciudadano. Da igual cuál.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822960" y="2377440"/>
            <a:ext cx="3337560" cy="2240280"/>
          </a:xfrm>
          <a:prstGeom prst="roundRect">
            <a:avLst>
              <a:gd name="adj" fmla="val 4082"/>
            </a:avLst>
          </a:prstGeom>
          <a:solidFill>
            <a:srgbClr val="EDF1F8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606040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 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301752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firma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97280" y="3566160"/>
            <a:ext cx="27889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herramienta está al día. El pliego es correcto.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434840" y="2377440"/>
            <a:ext cx="3337560" cy="2240280"/>
          </a:xfrm>
          <a:prstGeom prst="roundRect">
            <a:avLst>
              <a:gd name="adj" fmla="val 4082"/>
            </a:avLst>
          </a:prstGeom>
          <a:solidFill>
            <a:srgbClr val="FDF6E6"/>
          </a:solidFill>
          <a:ln/>
        </p:spPr>
      </p:sp>
      <p:sp>
        <p:nvSpPr>
          <p:cNvPr id="9" name="Text 7"/>
          <p:cNvSpPr/>
          <p:nvPr/>
        </p:nvSpPr>
        <p:spPr>
          <a:xfrm>
            <a:off x="4709160" y="2606040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 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709160" y="301752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Aparece algo mejor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709160" y="3566160"/>
            <a:ext cx="27889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Capacidades que al redactar el pliego no existían y nadie podía nombrar.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046720" y="2377440"/>
            <a:ext cx="3337560" cy="2240280"/>
          </a:xfrm>
          <a:prstGeom prst="roundRect">
            <a:avLst>
              <a:gd name="adj" fmla="val 4082"/>
            </a:avLst>
          </a:prstGeom>
          <a:solidFill>
            <a:srgbClr val="FBEEEC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2606040"/>
            <a:ext cx="2788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9A3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 5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21040" y="3017520"/>
            <a:ext cx="2788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acaba el contrato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321040" y="3566160"/>
            <a:ext cx="278892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años de servicio público prestado con herramientas de otra época.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Nadie ha hecho nada mal por el camino. Es un defecto de diseño del contrato.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los dos años sólo hay tres salidas, y las tres cuestan dinero público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828800"/>
            <a:ext cx="3337560" cy="2697480"/>
          </a:xfrm>
          <a:prstGeom prst="roundRect">
            <a:avLst>
              <a:gd name="adj" fmla="val 3390"/>
            </a:avLst>
          </a:prstGeom>
          <a:solidFill>
            <a:srgbClr val="EDF1F8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2057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D3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097280" y="2651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paga dos veces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97280" y="3291840"/>
            <a:ext cx="2788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saca un contrato nuevo para «modernizar» lo que ya se compró. La misma función, otra vez facturada.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434840" y="1828800"/>
            <a:ext cx="3337560" cy="2697480"/>
          </a:xfrm>
          <a:prstGeom prst="roundRect">
            <a:avLst>
              <a:gd name="adj" fmla="val 3390"/>
            </a:avLst>
          </a:prstGeom>
          <a:solidFill>
            <a:srgbClr val="EDF1F8"/>
          </a:solidFill>
          <a:ln/>
        </p:spPr>
      </p:sp>
      <p:sp>
        <p:nvSpPr>
          <p:cNvPr id="8" name="Text 6"/>
          <p:cNvSpPr/>
          <p:nvPr/>
        </p:nvSpPr>
        <p:spPr>
          <a:xfrm>
            <a:off x="4709160" y="2057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D3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709160" y="2651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aguanta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709160" y="3291840"/>
            <a:ext cx="2788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espera al final del contrato prestando el servicio con lo que hay.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046720" y="1828800"/>
            <a:ext cx="3337560" cy="2697480"/>
          </a:xfrm>
          <a:prstGeom prst="roundRect">
            <a:avLst>
              <a:gd name="adj" fmla="val 3390"/>
            </a:avLst>
          </a:prstGeom>
          <a:solidFill>
            <a:srgbClr val="EDF1F8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05740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9D3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8321040" y="2651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queda cautivo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321040" y="3291840"/>
            <a:ext cx="278892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Cambiar de proveedor obligaría a dejar atrás los datos y los desarrollos propios. Sale tan caro que no se cambia.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tercera es la peor: la licitación siguiente está decidida antes de publicarse.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«Que se comprometa a mantenerlo actualizado» no sirve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Suena razonable. Es lo primero que uno escribiría. Y no funciona por tres motivos: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82296" cy="98755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5" name="Text 3"/>
          <p:cNvSpPr/>
          <p:nvPr/>
        </p:nvSpPr>
        <p:spPr>
          <a:xfrm>
            <a:off x="1143000" y="2103120"/>
            <a:ext cx="39319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empresa no puede ponerle precio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212080" y="2103120"/>
            <a:ext cx="612648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le pide algo cuyo contenido nadie conoce todavía. O infla la oferta por si acaso, o la ignora y ya discutirá durante la ejecución.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822960" y="3310128"/>
            <a:ext cx="82296" cy="98755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8" name="Text 6"/>
          <p:cNvSpPr/>
          <p:nvPr/>
        </p:nvSpPr>
        <p:spPr>
          <a:xfrm>
            <a:off x="1143000" y="3310128"/>
            <a:ext cx="39319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administración no puede exigirlo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212080" y="3310128"/>
            <a:ext cx="612648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Demostrar que una tecnología concreta «era necesaria» es una apreciación técnica que no se sostiene frente a un contratista bien asesorado.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822960" y="4517136"/>
            <a:ext cx="82296" cy="98755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11" name="Text 9"/>
          <p:cNvSpPr/>
          <p:nvPr/>
        </p:nvSpPr>
        <p:spPr>
          <a:xfrm>
            <a:off x="1143000" y="4517136"/>
            <a:ext cx="393192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 un tribunal la anula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212080" y="4517136"/>
            <a:ext cx="6126480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obligación genérica no puede ser ni siquiera una obligación contractual, y menos aún una cuyo incumplimiento permita resolver el contrato.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clausulado que no se puede exigir es peor que no tener clausulado: da falsa seguridad.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vuelta de tuerca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4630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lugar de comprar una evolución futura indefinida…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10515600" cy="1737360"/>
          </a:xfrm>
          <a:prstGeom prst="roundRect">
            <a:avLst>
              <a:gd name="adj" fmla="val 5263"/>
            </a:avLst>
          </a:prstGeom>
          <a:solidFill>
            <a:srgbClr val="EFF5F0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228600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…se compran capacidades concretas, con plazo y con criterios de aceptación</a:t>
            </a:r>
            <a:endParaRPr lang="en-US" sz="2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verificables, fijadas al licitar y revisadas cada año para las licitaciones siguientes.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822960" y="4069080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empresa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4526280"/>
            <a:ext cx="3337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 exactamente qué está ofertando, y puede ponerle precio.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4434840" y="4069080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administración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434840" y="4526280"/>
            <a:ext cx="3337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 exactamente qué puede exigir, y cuándo.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8046720" y="4069080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tribunal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8046720" y="4526280"/>
            <a:ext cx="33375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tiene nada indeterminado que anular.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no se pueda concretar hoy, se concreta el año que viene, en la licitación siguiente.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otra mitad del problema: de quién son los datos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pliego puede restringir la competencia de dos maneras. La conocida es escribirlo a medida de un proveedor. La otra es más silenciosa: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2286000"/>
            <a:ext cx="10515600" cy="1234440"/>
          </a:xfrm>
          <a:prstGeom prst="roundRect">
            <a:avLst>
              <a:gd name="adj" fmla="val 7407"/>
            </a:avLst>
          </a:prstGeom>
          <a:solidFill>
            <a:srgbClr val="FDF6E6"/>
          </a:solidFill>
          <a:ln/>
        </p:spPr>
      </p:sp>
      <p:sp>
        <p:nvSpPr>
          <p:cNvPr id="5" name="Text 3"/>
          <p:cNvSpPr/>
          <p:nvPr/>
        </p:nvSpPr>
        <p:spPr>
          <a:xfrm>
            <a:off x="1234440" y="2514600"/>
            <a:ext cx="9692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al terminar el contrato los datos, los desarrollos y la lógica de negocio se quedan con el proveedor saliente, cambiar de empresa es tan caro que nadie cambia.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379476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una parte central del clausulado no habla de inteligencia artificial: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822960" y="4297680"/>
            <a:ext cx="3337560" cy="1371600"/>
          </a:xfrm>
          <a:prstGeom prst="roundRect">
            <a:avLst>
              <a:gd name="adj" fmla="val 6667"/>
            </a:avLst>
          </a:prstGeom>
          <a:solidFill>
            <a:srgbClr val="EFF5F0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448056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quién son los datos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97280" y="4937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en qué formato se devuelven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34840" y="4297680"/>
            <a:ext cx="3337560" cy="1371600"/>
          </a:xfrm>
          <a:prstGeom prst="roundRect">
            <a:avLst>
              <a:gd name="adj" fmla="val 6667"/>
            </a:avLst>
          </a:prstGeom>
          <a:solidFill>
            <a:srgbClr val="EFF5F0"/>
          </a:solidFill>
          <a:ln/>
        </p:spPr>
      </p:sp>
      <p:sp>
        <p:nvSpPr>
          <p:cNvPr id="11" name="Text 9"/>
          <p:cNvSpPr/>
          <p:nvPr/>
        </p:nvSpPr>
        <p:spPr>
          <a:xfrm>
            <a:off x="4709160" y="448056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quién son los algoritmos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4709160" y="4937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hechos a medida para la administración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46720" y="4297680"/>
            <a:ext cx="3337560" cy="1371600"/>
          </a:xfrm>
          <a:prstGeom prst="roundRect">
            <a:avLst>
              <a:gd name="adj" fmla="val 6667"/>
            </a:avLst>
          </a:prstGeom>
          <a:solidFill>
            <a:srgbClr val="EFF5F0"/>
          </a:solidFill>
          <a:ln/>
        </p:spPr>
      </p:sp>
      <p:sp>
        <p:nvSpPr>
          <p:cNvPr id="14" name="Text 12"/>
          <p:cNvSpPr/>
          <p:nvPr/>
        </p:nvSpPr>
        <p:spPr>
          <a:xfrm>
            <a:off x="8321040" y="4480560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6B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Qué se entrega al terminar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21040" y="4937760"/>
            <a:ext cx="2788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qué plazo, y quién comprueba que funciona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pliego que restringe la competencia no es más exigente: es más frágil.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 que este documento NO promete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554480"/>
            <a:ext cx="10515600" cy="1371600"/>
          </a:xfrm>
          <a:prstGeom prst="roundRect">
            <a:avLst>
              <a:gd name="adj" fmla="val 6667"/>
            </a:avLst>
          </a:prstGeom>
          <a:solidFill>
            <a:srgbClr val="FDF6E6"/>
          </a:solidFill>
          <a:ln/>
        </p:spPr>
      </p:sp>
      <p:sp>
        <p:nvSpPr>
          <p:cNvPr id="4" name="Text 2"/>
          <p:cNvSpPr/>
          <p:nvPr/>
        </p:nvSpPr>
        <p:spPr>
          <a:xfrm>
            <a:off x="1234440" y="1783080"/>
            <a:ext cx="96926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se promete que ningún tribunal pueda anular nada.</a:t>
            </a:r>
            <a:endParaRPr lang="en-US" sz="2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22201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es prometible: aún no existe doctrina sobre cláusulas de IA en contratación pública.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3200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sí está diseñado, y se puede comprobar cláusula por cláusula: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97280" y="374904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necesidad identificada, y la norma o el acuerdo que la impone;
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instrumento correcto, y sólo uno, para que nada se puntúe dos veces;
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medio de acreditación y una forma de verificación, con quién la hace y cuánto cuesta;
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consecuencia tasada si se incumple, proporcionada y dentro de los límites legales;
</a:t>
            </a:r>
            <a:endParaRPr lang="en-US" sz="17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7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una regla de separabilidad: si cae una pieza, no arrastra el pliego entero.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Prometer que algo es inanulable destruye su credibilidad ante quien tiene que firmarlo.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dónde sale: un ayuntamiento y tres objeciones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clausulado nació en el Ayuntamiento de Pozuelo de Alarcón en 2026 y se sometió al criterio de su área de contratación. Lo que esa área respondió es lo que da forma a esta versión.</a:t>
            </a:r>
            <a:endParaRPr lang="en-US" sz="1750" dirty="0"/>
          </a:p>
        </p:txBody>
      </p:sp>
      <p:sp>
        <p:nvSpPr>
          <p:cNvPr id="4" name="Shape 2"/>
          <p:cNvSpPr/>
          <p:nvPr/>
        </p:nvSpPr>
        <p:spPr>
          <a:xfrm>
            <a:off x="822960" y="2377440"/>
            <a:ext cx="10515600" cy="1051560"/>
          </a:xfrm>
          <a:prstGeom prst="roundRect">
            <a:avLst>
              <a:gd name="adj" fmla="val 8696"/>
            </a:avLst>
          </a:prstGeom>
          <a:solidFill>
            <a:srgbClr val="EDF1F8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2468880"/>
            <a:ext cx="2743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«Artificioso al contrato»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3931920" y="2468880"/>
            <a:ext cx="7223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cláusula lleva ahora el origen de su necesidad: una norma, el servicio gestor, o un acuerdo del órgano de gobierno. Lo que no tiene ninguno de los tres, no entra.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822960" y="3611880"/>
            <a:ext cx="10515600" cy="105156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3703320"/>
            <a:ext cx="2743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«Demasiado abstracto»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931920" y="3703320"/>
            <a:ext cx="7223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cláusula tiene siete epígrafes fijos, y el texto que se copia va dentro de un recuadro. Fuera del recuadro no se copia nada.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822960" y="4846320"/>
            <a:ext cx="10515600" cy="1051560"/>
          </a:xfrm>
          <a:prstGeom prst="roundRect">
            <a:avLst>
              <a:gd name="adj" fmla="val 8696"/>
            </a:avLst>
          </a:prstGeom>
          <a:solidFill>
            <a:srgbClr val="EDF1F8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4937760"/>
            <a:ext cx="2743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«Pruébalo primero»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3931920" y="4937760"/>
            <a:ext cx="72237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documento incluye el caso piloto resuelto entero, con su expediente y con lo que hay que rectificar de lo ya redactado.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tres objeciones se responden dentro del documento, no en una nota al pie.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Qué es, y qué no 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645920"/>
            <a:ext cx="5120640" cy="3840480"/>
          </a:xfrm>
          <a:prstGeom prst="roundRect">
            <a:avLst>
              <a:gd name="adj" fmla="val 2381"/>
            </a:avLst>
          </a:prstGeom>
          <a:solidFill>
            <a:srgbClr val="EFF5F0"/>
          </a:solidFill>
          <a:ln/>
        </p:spPr>
      </p:sp>
      <p:sp>
        <p:nvSpPr>
          <p:cNvPr id="4" name="Text 2"/>
          <p:cNvSpPr/>
          <p:nvPr/>
        </p:nvSpPr>
        <p:spPr>
          <a:xfrm>
            <a:off x="1143000" y="187452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E6B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143000" y="2377440"/>
            <a:ext cx="4480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catálogo de cláusulas ya redactadas, con su justificación y su medio de prueba.
</a:t>
            </a:r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manual de expediente: qué documento hace falta, quién lo firma y en qué orden.
</a:t>
            </a:r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caso piloto resuelto de principio a fin.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217920" y="1645920"/>
            <a:ext cx="5120640" cy="3840480"/>
          </a:xfrm>
          <a:prstGeom prst="roundRect">
            <a:avLst>
              <a:gd name="adj" fmla="val 2381"/>
            </a:avLst>
          </a:prstGeom>
          <a:solidFill>
            <a:srgbClr val="FBEEEC"/>
          </a:solidFill>
          <a:ln/>
        </p:spPr>
      </p:sp>
      <p:sp>
        <p:nvSpPr>
          <p:cNvPr id="7" name="Text 5"/>
          <p:cNvSpPr/>
          <p:nvPr/>
        </p:nvSpPr>
        <p:spPr>
          <a:xfrm>
            <a:off x="6537960" y="1874520"/>
            <a:ext cx="4480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9A332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37960" y="2377440"/>
            <a:ext cx="448056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norma. No obliga a nadie por sí mismo.
</a:t>
            </a:r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aplicación automática. Ninguna cláusula entra en un pliego por existir aquí.
</a:t>
            </a:r>
            <a:pPr indent="0" marL="0">
              <a:buNone/>
            </a:pPr>
            <a:r>
              <a:rPr lang="en-US" sz="16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«copia y pega». Una cláusula sin necesidad acreditada no protege: añade un motivo de recurso.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toma lo que cada expediente necesita, y se justifica. Ésa es toda la regla de uso.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Qué hay publicado, y para quién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600200"/>
            <a:ext cx="10515600" cy="1234440"/>
          </a:xfrm>
          <a:prstGeom prst="roundRect">
            <a:avLst>
              <a:gd name="adj" fmla="val 7407"/>
            </a:avLst>
          </a:prstGeom>
          <a:solidFill>
            <a:srgbClr val="EDF1F8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737360"/>
            <a:ext cx="3108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clausulado completo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297680" y="1737360"/>
            <a:ext cx="4937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Catálogo, memoria justificativa para la Intervención, circuito del expediente, caso piloto y anexos con todos los modelos.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326880" y="1737360"/>
            <a:ext cx="1828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Quien redacta y quien fiscaliza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822960" y="3017520"/>
            <a:ext cx="10515600" cy="1234440"/>
          </a:xfrm>
          <a:prstGeom prst="roundRect">
            <a:avLst>
              <a:gd name="adj" fmla="val 7407"/>
            </a:avLst>
          </a:prstGeom>
          <a:solidFill>
            <a:srgbClr val="EDF1F8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154680"/>
            <a:ext cx="3108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El resumen y la guía de uso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297680" y="3154680"/>
            <a:ext cx="4937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primera parte del documento, escrita para quien no sabe nada de contratación ni de tecnología.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9326880" y="3154680"/>
            <a:ext cx="1828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Alcaldía, concejalías, prensa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22960" y="4434840"/>
            <a:ext cx="10515600" cy="1234440"/>
          </a:xfrm>
          <a:prstGeom prst="roundRect">
            <a:avLst>
              <a:gd name="adj" fmla="val 7407"/>
            </a:avLst>
          </a:prstGeom>
          <a:solidFill>
            <a:srgbClr val="EDF1F8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572000"/>
            <a:ext cx="31089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Esta presentación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297680" y="4572000"/>
            <a:ext cx="493776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y la solución, sin que haga falta saber nada previo.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326880" y="4572000"/>
            <a:ext cx="1828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Cualquier sala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8521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en abierto, bajo licencia Creative Commons Attribution 4.0: se puede copiar, adaptar y usar con cualquier finalidad, citando la autoría.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Quién lo ha hecho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960" y="1645920"/>
            <a:ext cx="82296" cy="155448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0" y="16459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Delfina Lafuente Veira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0" y="214884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Concejal de Administración Digital, Calidad e Innovación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Ayuntamiento de Pozuelo de Alarcón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1188720" y="27889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Impulsora del proyecto y autora del clausulado original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22960" y="3474720"/>
            <a:ext cx="82296" cy="1554480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8" name="Text 6"/>
          <p:cNvSpPr/>
          <p:nvPr/>
        </p:nvSpPr>
        <p:spPr>
          <a:xfrm>
            <a:off x="1188720" y="34747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Dr. José Antonio Ondiviela García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188720" y="3977640"/>
            <a:ext cx="100584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Profesor de la Escuela Politécnica Superior e investigador</a:t>
            </a:r>
            <a:endParaRPr lang="en-US" sz="1550" dirty="0"/>
          </a:p>
          <a:p>
            <a:pPr indent="0" marL="0">
              <a:buNone/>
            </a:pPr>
            <a:r>
              <a:rPr lang="en-US" sz="155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Universidad Francisco de Vitoria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1188720" y="4617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técnica y de mercado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54406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clausulado incorpora las observaciones del área de contratación del Ayuntamiento de Pozuelo de Alarcón, que son las que dieron forma a esta versión.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E6A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 y firmado por Miguel Ángel Domínguez Castellano.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Una licitación que dura años</a:t>
            </a:r>
            <a:endParaRPr lang="en-US" sz="3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ya no se puede sacar como se sacaba antes.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4206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clausulado completo, los modelos y esta presentación están publicados en abierto.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47548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github.com/migueldadd4u/ai-clauses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22960" y="576072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C9D3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 asesoramiento legal. Su incorporación a un expediente concreto exige el análisis, la adaptación y los informes preceptivos de cada administración.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Clauses · Cláusulas de IA para la contratación pública</dc:title>
  <dc:subject>PptxGenJS Presentation</dc:subject>
  <dc:creator>Miguel Ángel Domínguez Castellano</dc:creator>
  <cp:lastModifiedBy>Miguel Ángel Domínguez Castellano</cp:lastModifiedBy>
  <cp:revision>1</cp:revision>
  <dcterms:created xsi:type="dcterms:W3CDTF">2026-09-01T09:08:26Z</dcterms:created>
  <dcterms:modified xsi:type="dcterms:W3CDTF">2026-09-01T09:08:26Z</dcterms:modified>
</cp:coreProperties>
</file>